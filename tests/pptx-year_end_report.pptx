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67" r:id="rId4"/>
    <p:sldId id="268" r:id="rId5"/>
    <p:sldId id="262" r:id="rId6"/>
    <p:sldId id="264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6978"/>
    <a:srgbClr val="012E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70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14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92856-DC5A-45FB-AC67-10CE52418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14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92856-DC5A-45FB-AC67-10CE52418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14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92856-DC5A-45FB-AC67-10CE52418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14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92856-DC5A-45FB-AC67-10CE52418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6146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6147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A5692856-DC5A-45FB-AC67-10CE52418AC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2.png"/><Relationship Id="rId5" Type="http://schemas.openxmlformats.org/officeDocument/2006/relationships/tags" Target="../tags/tag5.xml"/><Relationship Id="rId10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1.xml"/><Relationship Id="rId7" Type="http://schemas.openxmlformats.org/officeDocument/2006/relationships/tags" Target="../tags/tag15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jpeg"/><Relationship Id="rId4" Type="http://schemas.openxmlformats.org/officeDocument/2006/relationships/tags" Target="../tags/tag12.xml"/><Relationship Id="rId9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13" Type="http://schemas.openxmlformats.org/officeDocument/2006/relationships/tags" Target="../tags/tag28.xml"/><Relationship Id="rId18" Type="http://schemas.openxmlformats.org/officeDocument/2006/relationships/tags" Target="../tags/tag33.xml"/><Relationship Id="rId26" Type="http://schemas.openxmlformats.org/officeDocument/2006/relationships/slideLayout" Target="../slideLayouts/slideLayout7.xml"/><Relationship Id="rId3" Type="http://schemas.openxmlformats.org/officeDocument/2006/relationships/tags" Target="../tags/tag18.xml"/><Relationship Id="rId21" Type="http://schemas.openxmlformats.org/officeDocument/2006/relationships/tags" Target="../tags/tag36.xml"/><Relationship Id="rId7" Type="http://schemas.openxmlformats.org/officeDocument/2006/relationships/tags" Target="../tags/tag22.xml"/><Relationship Id="rId12" Type="http://schemas.openxmlformats.org/officeDocument/2006/relationships/tags" Target="../tags/tag27.xml"/><Relationship Id="rId17" Type="http://schemas.openxmlformats.org/officeDocument/2006/relationships/tags" Target="../tags/tag32.xml"/><Relationship Id="rId25" Type="http://schemas.openxmlformats.org/officeDocument/2006/relationships/tags" Target="../tags/tag40.xml"/><Relationship Id="rId2" Type="http://schemas.openxmlformats.org/officeDocument/2006/relationships/tags" Target="../tags/tag17.xml"/><Relationship Id="rId16" Type="http://schemas.openxmlformats.org/officeDocument/2006/relationships/tags" Target="../tags/tag31.xml"/><Relationship Id="rId20" Type="http://schemas.openxmlformats.org/officeDocument/2006/relationships/tags" Target="../tags/tag35.xml"/><Relationship Id="rId29" Type="http://schemas.openxmlformats.org/officeDocument/2006/relationships/image" Target="../media/image6.png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tags" Target="../tags/tag26.xml"/><Relationship Id="rId24" Type="http://schemas.openxmlformats.org/officeDocument/2006/relationships/tags" Target="../tags/tag39.xml"/><Relationship Id="rId5" Type="http://schemas.openxmlformats.org/officeDocument/2006/relationships/tags" Target="../tags/tag20.xml"/><Relationship Id="rId15" Type="http://schemas.openxmlformats.org/officeDocument/2006/relationships/tags" Target="../tags/tag30.xml"/><Relationship Id="rId23" Type="http://schemas.openxmlformats.org/officeDocument/2006/relationships/tags" Target="../tags/tag38.xml"/><Relationship Id="rId28" Type="http://schemas.openxmlformats.org/officeDocument/2006/relationships/image" Target="../media/image5.png"/><Relationship Id="rId10" Type="http://schemas.openxmlformats.org/officeDocument/2006/relationships/tags" Target="../tags/tag25.xml"/><Relationship Id="rId19" Type="http://schemas.openxmlformats.org/officeDocument/2006/relationships/tags" Target="../tags/tag34.xml"/><Relationship Id="rId4" Type="http://schemas.openxmlformats.org/officeDocument/2006/relationships/tags" Target="../tags/tag19.xml"/><Relationship Id="rId9" Type="http://schemas.openxmlformats.org/officeDocument/2006/relationships/tags" Target="../tags/tag24.xml"/><Relationship Id="rId14" Type="http://schemas.openxmlformats.org/officeDocument/2006/relationships/tags" Target="../tags/tag29.xml"/><Relationship Id="rId22" Type="http://schemas.openxmlformats.org/officeDocument/2006/relationships/tags" Target="../tags/tag37.xml"/><Relationship Id="rId27" Type="http://schemas.openxmlformats.org/officeDocument/2006/relationships/notesSlide" Target="../notesSlides/notesSlide2.xml"/><Relationship Id="rId30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image" Target="../media/image3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image" Target="../media/image2.png"/><Relationship Id="rId5" Type="http://schemas.openxmlformats.org/officeDocument/2006/relationships/tags" Target="../tags/tag47.xml"/><Relationship Id="rId10" Type="http://schemas.openxmlformats.org/officeDocument/2006/relationships/image" Target="../media/image1.png"/><Relationship Id="rId4" Type="http://schemas.openxmlformats.org/officeDocument/2006/relationships/tags" Target="../tags/tag46.xml"/><Relationship Id="rId9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5027295"/>
            <a:ext cx="12192000" cy="168275"/>
          </a:xfrm>
          <a:prstGeom prst="rect">
            <a:avLst/>
          </a:prstGeom>
          <a:gradFill>
            <a:gsLst>
              <a:gs pos="0">
                <a:srgbClr val="013AEF"/>
              </a:gs>
              <a:gs pos="100000">
                <a:srgbClr val="013AEF"/>
              </a:gs>
              <a:gs pos="65000">
                <a:srgbClr val="4883F7">
                  <a:alpha val="100000"/>
                </a:srgbClr>
              </a:gs>
              <a:gs pos="32000">
                <a:srgbClr val="4883F7">
                  <a:alpha val="100000"/>
                </a:srgbClr>
              </a:gs>
              <a:gs pos="52000">
                <a:srgbClr val="8FCBF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192000" cy="5113020"/>
          </a:xfrm>
          <a:prstGeom prst="rect">
            <a:avLst/>
          </a:prstGeom>
          <a:blipFill rotWithShape="1">
            <a:blip r:embed="rId10"/>
            <a:srcRect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5113020"/>
          </a:xfrm>
          <a:prstGeom prst="rect">
            <a:avLst/>
          </a:prstGeom>
          <a:gradFill>
            <a:gsLst>
              <a:gs pos="19000">
                <a:srgbClr val="013AEF">
                  <a:alpha val="90000"/>
                </a:srgbClr>
              </a:gs>
              <a:gs pos="100000">
                <a:srgbClr val="013AEF">
                  <a:alpha val="7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logo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1648" y="793750"/>
            <a:ext cx="3608705" cy="708660"/>
          </a:xfrm>
          <a:prstGeom prst="rect">
            <a:avLst/>
          </a:prstGeom>
        </p:spPr>
      </p:pic>
      <p:sp>
        <p:nvSpPr>
          <p:cNvPr id="13" name="文本框 12" hidden="1"/>
          <p:cNvSpPr txBox="1"/>
          <p:nvPr/>
        </p:nvSpPr>
        <p:spPr>
          <a:xfrm>
            <a:off x="254000" y="1943100"/>
            <a:ext cx="11953240" cy="13220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奋辑</a:t>
            </a:r>
            <a:r>
              <a:rPr kumimoji="0" lang="en-US" sz="80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扬帆</a:t>
            </a:r>
            <a:r>
              <a:rPr kumimoji="0" lang="en-US" sz="66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勇向前 笃行不怠谱新篇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156819" y="4053850"/>
            <a:ext cx="9879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抖音美好体" panose="02000800000000000000" charset="-122"/>
                <a:ea typeface="抖音美好体" panose="02000800000000000000" charset="-122"/>
                <a:cs typeface="微软雅黑" panose="020B0503020204020204" charset="-122"/>
              </a:rPr>
              <a:t>西北工业大学计算机学院研究生会办公室部门负责人述职答辩</a:t>
            </a:r>
          </a:p>
        </p:txBody>
      </p:sp>
      <p:grpSp>
        <p:nvGrpSpPr>
          <p:cNvPr id="96" name="组合 95"/>
          <p:cNvGrpSpPr/>
          <p:nvPr/>
        </p:nvGrpSpPr>
        <p:grpSpPr>
          <a:xfrm>
            <a:off x="700889" y="4239260"/>
            <a:ext cx="455930" cy="152400"/>
            <a:chOff x="629294" y="1174543"/>
            <a:chExt cx="303304" cy="152400"/>
          </a:xfrm>
        </p:grpSpPr>
        <p:cxnSp>
          <p:nvCxnSpPr>
            <p:cNvPr id="97" name="直接连接符 96"/>
            <p:cNvCxnSpPr/>
            <p:nvPr>
              <p:custDataLst>
                <p:tags r:id="rId6"/>
              </p:custDataLst>
            </p:nvPr>
          </p:nvCxnSpPr>
          <p:spPr>
            <a:xfrm flipH="1" flipV="1">
              <a:off x="629294" y="12507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接连接符 111"/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695554" y="11745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695554" y="13269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组合 132"/>
          <p:cNvGrpSpPr/>
          <p:nvPr/>
        </p:nvGrpSpPr>
        <p:grpSpPr>
          <a:xfrm flipH="1">
            <a:off x="10977031" y="4239260"/>
            <a:ext cx="455930" cy="152400"/>
            <a:chOff x="629294" y="1174543"/>
            <a:chExt cx="303304" cy="152400"/>
          </a:xfrm>
        </p:grpSpPr>
        <p:cxnSp>
          <p:nvCxnSpPr>
            <p:cNvPr id="134" name="直接连接符 133"/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629294" y="12507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695554" y="11745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695554" y="13269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/>
          <p:cNvGrpSpPr/>
          <p:nvPr/>
        </p:nvGrpSpPr>
        <p:grpSpPr>
          <a:xfrm>
            <a:off x="2973070" y="5764529"/>
            <a:ext cx="6374130" cy="594000"/>
            <a:chOff x="4682" y="9078"/>
            <a:chExt cx="10038" cy="935"/>
          </a:xfrm>
        </p:grpSpPr>
        <p:grpSp>
          <p:nvGrpSpPr>
            <p:cNvPr id="2" name="组合 1"/>
            <p:cNvGrpSpPr/>
            <p:nvPr/>
          </p:nvGrpSpPr>
          <p:grpSpPr>
            <a:xfrm>
              <a:off x="4682" y="9078"/>
              <a:ext cx="3763" cy="935"/>
              <a:chOff x="735" y="7612"/>
              <a:chExt cx="3271" cy="794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" y="7612"/>
                <a:ext cx="3188" cy="794"/>
                <a:chOff x="3260765" y="4412055"/>
                <a:chExt cx="2024681" cy="491751"/>
              </a:xfrm>
            </p:grpSpPr>
            <p:sp>
              <p:nvSpPr>
                <p:cNvPr id="11" name="对角圆角矩形 10"/>
                <p:cNvSpPr/>
                <p:nvPr/>
              </p:nvSpPr>
              <p:spPr>
                <a:xfrm>
                  <a:off x="3685242" y="4420993"/>
                  <a:ext cx="1600204" cy="47102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2992FE"/>
                      </a:gs>
                    </a:gsLst>
                    <a:lin ang="5400000" scaled="1"/>
                  </a:gradFill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" name="对角圆角矩形 2"/>
                <p:cNvSpPr/>
                <p:nvPr/>
              </p:nvSpPr>
              <p:spPr>
                <a:xfrm>
                  <a:off x="3260765" y="4412055"/>
                  <a:ext cx="893111" cy="49175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>
                  <a:gsLst>
                    <a:gs pos="0">
                      <a:srgbClr val="0000AF"/>
                    </a:gs>
                    <a:gs pos="100000">
                      <a:srgbClr val="013AEF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9" name="文本框 8"/>
              <p:cNvSpPr txBox="1"/>
              <p:nvPr/>
            </p:nvSpPr>
            <p:spPr>
              <a:xfrm>
                <a:off x="735" y="7796"/>
                <a:ext cx="1598" cy="457"/>
              </a:xfrm>
              <a:prstGeom prst="rect">
                <a:avLst/>
              </a:prstGeom>
            </p:spPr>
            <p:txBody>
              <a:bodyPr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答辩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2426" y="7765"/>
                <a:ext cx="1197" cy="4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chemeClr val="tx1"/>
                    </a:solidFill>
                    <a:cs typeface="微软雅黑" panose="020B0503020204020204" charset="-122"/>
                  </a:rPr>
                  <a:t>张旭</a:t>
                </a:r>
                <a:endParaRPr kumimoji="0" lang="zh-CN" alt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0174" y="9100"/>
              <a:ext cx="4546" cy="901"/>
              <a:chOff x="553" y="7630"/>
              <a:chExt cx="3951" cy="7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831" y="7630"/>
                <a:ext cx="3673" cy="765"/>
                <a:chOff x="3269045" y="4428493"/>
                <a:chExt cx="2332191" cy="474561"/>
              </a:xfrm>
            </p:grpSpPr>
            <p:sp>
              <p:nvSpPr>
                <p:cNvPr id="14" name="对角圆角矩形 13"/>
                <p:cNvSpPr/>
                <p:nvPr/>
              </p:nvSpPr>
              <p:spPr>
                <a:xfrm>
                  <a:off x="3685153" y="4439760"/>
                  <a:ext cx="1916083" cy="443245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2992FE"/>
                      </a:gs>
                    </a:gsLst>
                    <a:lin ang="5400000" scaled="1"/>
                  </a:gradFill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6" name="对角圆角矩形 15"/>
                <p:cNvSpPr/>
                <p:nvPr/>
              </p:nvSpPr>
              <p:spPr>
                <a:xfrm>
                  <a:off x="3269045" y="4428493"/>
                  <a:ext cx="892875" cy="47456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>
                  <a:gsLst>
                    <a:gs pos="0">
                      <a:srgbClr val="0000AF"/>
                    </a:gs>
                    <a:gs pos="100000">
                      <a:srgbClr val="013AEF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553" y="7819"/>
                <a:ext cx="1995" cy="45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时间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237" y="7802"/>
                <a:ext cx="2267" cy="4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2026</a:t>
                </a:r>
                <a:r>
                  <a:rPr lang="en-US" altLang="zh-CN" sz="1800" b="1" dirty="0">
                    <a:solidFill>
                      <a:schemeClr val="tx1"/>
                    </a:solidFill>
                    <a:cs typeface="微软雅黑" panose="020B0503020204020204" charset="-122"/>
                  </a:rPr>
                  <a:t>.1.24</a:t>
                </a:r>
                <a:endParaRPr kumimoji="0" lang="en-US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D61F747E-0884-DB19-FE18-34D83023AA0E}"/>
              </a:ext>
            </a:extLst>
          </p:cNvPr>
          <p:cNvSpPr txBox="1"/>
          <p:nvPr/>
        </p:nvSpPr>
        <p:spPr>
          <a:xfrm>
            <a:off x="158887" y="2294220"/>
            <a:ext cx="1300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劈波</a:t>
            </a:r>
            <a:r>
              <a:rPr lang="zh-CN" altLang="en-US" sz="72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逐浪</a:t>
            </a:r>
            <a:r>
              <a:rPr lang="zh-CN" altLang="en-US" sz="60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向新途  躬身实干</a:t>
            </a:r>
            <a:r>
              <a:rPr lang="zh-CN" altLang="en-US" sz="72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绘新卷</a:t>
            </a:r>
            <a:endParaRPr lang="zh-CN" altLang="en-US" sz="6000" dirty="0">
              <a:ln w="0"/>
              <a:gradFill>
                <a:gsLst>
                  <a:gs pos="100000">
                    <a:schemeClr val="accent3">
                      <a:lumMod val="20000"/>
                      <a:lumOff val="80000"/>
                    </a:schemeClr>
                  </a:gs>
                  <a:gs pos="3000">
                    <a:schemeClr val="bg1"/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465622" y="5733534"/>
            <a:ext cx="8761644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坚定理想信念，厚植家国情怀，勇担历史使命！</a:t>
            </a:r>
          </a:p>
        </p:txBody>
      </p:sp>
      <p:grpSp>
        <p:nvGrpSpPr>
          <p:cNvPr id="13" name="Group 7"/>
          <p:cNvGrpSpPr/>
          <p:nvPr/>
        </p:nvGrpSpPr>
        <p:grpSpPr>
          <a:xfrm>
            <a:off x="784640" y="1334818"/>
            <a:ext cx="486849" cy="146685"/>
            <a:chOff x="6221638" y="2403583"/>
            <a:chExt cx="887449" cy="267029"/>
          </a:xfrm>
        </p:grpSpPr>
        <p:sp>
          <p:nvSpPr>
            <p:cNvPr id="14" name="Oval 10"/>
            <p:cNvSpPr/>
            <p:nvPr>
              <p:custDataLst>
                <p:tags r:id="rId5"/>
              </p:custDataLst>
            </p:nvPr>
          </p:nvSpPr>
          <p:spPr>
            <a:xfrm>
              <a:off x="6835471" y="2403583"/>
              <a:ext cx="273616" cy="26702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en-US" sz="480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15" name="Oval 11"/>
            <p:cNvSpPr/>
            <p:nvPr>
              <p:custDataLst>
                <p:tags r:id="rId6"/>
              </p:custDataLst>
            </p:nvPr>
          </p:nvSpPr>
          <p:spPr>
            <a:xfrm>
              <a:off x="6528555" y="2403583"/>
              <a:ext cx="273616" cy="2670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Oval 12"/>
            <p:cNvSpPr/>
            <p:nvPr>
              <p:custDataLst>
                <p:tags r:id="rId7"/>
              </p:custDataLst>
            </p:nvPr>
          </p:nvSpPr>
          <p:spPr>
            <a:xfrm>
              <a:off x="6221638" y="2403583"/>
              <a:ext cx="273616" cy="26702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2"/>
            </p:custDataLst>
          </p:nvPr>
        </p:nvSpPr>
        <p:spPr>
          <a:xfrm>
            <a:off x="1289757" y="1194485"/>
            <a:ext cx="8256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以中国式现代化全面推进强国建设、民族复兴伟业，青年大有可为。</a:t>
            </a:r>
          </a:p>
        </p:txBody>
      </p:sp>
      <p:sp>
        <p:nvSpPr>
          <p:cNvPr id="21" name="矩形 20"/>
          <p:cNvSpPr/>
          <p:nvPr>
            <p:custDataLst>
              <p:tags r:id="rId3"/>
            </p:custDataLst>
          </p:nvPr>
        </p:nvSpPr>
        <p:spPr>
          <a:xfrm>
            <a:off x="5618480" y="1567180"/>
            <a:ext cx="6203315" cy="372300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508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      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5846444" y="1965960"/>
            <a:ext cx="5747385" cy="26232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b="1" i="0" dirty="0">
                <a:solidFill>
                  <a:srgbClr val="222222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       广大青年要自觉听从党和人民召唤，坚定理想信念，厚植家国情怀，勇担历史使命，奋力书写挺膺担当的青春篇章。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indent="0" algn="r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——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2025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年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7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2</a:t>
            </a:r>
            <a:r>
              <a:rPr lang="zh-CN" altLang="en-US" sz="2000" dirty="0"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日，习近平致信祝贺全国青联十四届全委会，全国学联二十八大召开</a:t>
            </a:r>
          </a:p>
        </p:txBody>
      </p:sp>
      <p:sp>
        <p:nvSpPr>
          <p:cNvPr id="12" name="矩形 11"/>
          <p:cNvSpPr/>
          <p:nvPr/>
        </p:nvSpPr>
        <p:spPr>
          <a:xfrm>
            <a:off x="0" y="340360"/>
            <a:ext cx="12191365" cy="5791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5"/>
          <p:cNvSpPr>
            <a:spLocks noChangeArrowheads="1"/>
          </p:cNvSpPr>
          <p:nvPr/>
        </p:nvSpPr>
        <p:spPr bwMode="auto">
          <a:xfrm>
            <a:off x="283904" y="214622"/>
            <a:ext cx="5416432" cy="662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筑牢理想信念，厚植家国情怀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92" y="1713896"/>
            <a:ext cx="4309478" cy="35176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39420" y="1407688"/>
            <a:ext cx="11313160" cy="513143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2000">
                <a:schemeClr val="accent6">
                  <a:lumMod val="40000"/>
                  <a:lumOff val="60000"/>
                  <a:alpha val="73000"/>
                </a:schemeClr>
              </a:gs>
              <a:gs pos="72000">
                <a:schemeClr val="accent6">
                  <a:lumMod val="40000"/>
                  <a:lumOff val="60000"/>
                  <a:alpha val="100000"/>
                </a:schemeClr>
              </a:gs>
              <a:gs pos="100000">
                <a:schemeClr val="accent6">
                  <a:lumMod val="40000"/>
                  <a:lumOff val="60000"/>
                  <a:alpha val="34000"/>
                </a:schemeClr>
              </a:gs>
            </a:gsLst>
            <a:lin ang="16200000" scaled="0"/>
          </a:gradFill>
          <a:ln>
            <a:noFill/>
          </a:ln>
          <a:effectLst>
            <a:softEdge rad="63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0" y="340360"/>
            <a:ext cx="12192000" cy="57912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8" name="矩形 5"/>
          <p:cNvSpPr>
            <a:spLocks noChangeArrowheads="1"/>
          </p:cNvSpPr>
          <p:nvPr/>
        </p:nvSpPr>
        <p:spPr bwMode="auto">
          <a:xfrm>
            <a:off x="283904" y="214622"/>
            <a:ext cx="5416432" cy="662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岗位定位</a:t>
            </a:r>
          </a:p>
        </p:txBody>
      </p:sp>
      <p:sp>
        <p:nvSpPr>
          <p:cNvPr id="21" name="矩形 20"/>
          <p:cNvSpPr/>
          <p:nvPr>
            <p:custDataLst>
              <p:tags r:id="rId1"/>
            </p:custDataLst>
          </p:nvPr>
        </p:nvSpPr>
        <p:spPr>
          <a:xfrm>
            <a:off x="965848" y="1680845"/>
            <a:ext cx="10360648" cy="145424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508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0" algn="just" fontAlgn="auto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      办公室负责组织运转的“枢纽管理”：把信息传到位、把流程跑顺、把材料做规范、把执行保落地。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82" charset="2"/>
              <a:ea typeface="微软雅黑" panose="020B0503020204020204" pitchFamily="82" charset="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134415" y="941395"/>
            <a:ext cx="5521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200">
              <a:buClrTx/>
              <a:buSzTx/>
              <a:buFontTx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82" charset="2"/>
                <a:ea typeface="微软雅黑" panose="020B0503020204020204" pitchFamily="82" charset="2"/>
                <a:sym typeface="+mn-ea"/>
              </a:rPr>
              <a:t>办公室部门职责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5" name="Group 7"/>
          <p:cNvGrpSpPr/>
          <p:nvPr/>
        </p:nvGrpSpPr>
        <p:grpSpPr>
          <a:xfrm>
            <a:off x="647370" y="1075380"/>
            <a:ext cx="486849" cy="146685"/>
            <a:chOff x="6221638" y="2403583"/>
            <a:chExt cx="887449" cy="267029"/>
          </a:xfrm>
        </p:grpSpPr>
        <p:sp>
          <p:nvSpPr>
            <p:cNvPr id="26" name="Oval 10"/>
            <p:cNvSpPr/>
            <p:nvPr>
              <p:custDataLst>
                <p:tags r:id="rId23"/>
              </p:custDataLst>
            </p:nvPr>
          </p:nvSpPr>
          <p:spPr>
            <a:xfrm>
              <a:off x="6835471" y="2403583"/>
              <a:ext cx="273616" cy="26702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endParaRPr lang="en-US" sz="480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sym typeface="+mn-ea"/>
              </a:endParaRPr>
            </a:p>
          </p:txBody>
        </p:sp>
        <p:sp>
          <p:nvSpPr>
            <p:cNvPr id="27" name="Oval 11"/>
            <p:cNvSpPr/>
            <p:nvPr>
              <p:custDataLst>
                <p:tags r:id="rId24"/>
              </p:custDataLst>
            </p:nvPr>
          </p:nvSpPr>
          <p:spPr>
            <a:xfrm>
              <a:off x="6528555" y="2403583"/>
              <a:ext cx="273616" cy="267029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Oval 12"/>
            <p:cNvSpPr/>
            <p:nvPr>
              <p:custDataLst>
                <p:tags r:id="rId25"/>
              </p:custDataLst>
            </p:nvPr>
          </p:nvSpPr>
          <p:spPr>
            <a:xfrm>
              <a:off x="6221638" y="2403583"/>
              <a:ext cx="273616" cy="26702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3DBDA771-17B6-D0DB-B290-A53B430D21E9}"/>
              </a:ext>
            </a:extLst>
          </p:cNvPr>
          <p:cNvGrpSpPr/>
          <p:nvPr/>
        </p:nvGrpSpPr>
        <p:grpSpPr>
          <a:xfrm>
            <a:off x="2378300" y="5186874"/>
            <a:ext cx="2790398" cy="834268"/>
            <a:chOff x="6559" y="5666"/>
            <a:chExt cx="3048" cy="950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15166E1-5D8A-2245-A9EC-C3D1F5FB81E8}"/>
                </a:ext>
              </a:extLst>
            </p:cNvPr>
            <p:cNvGrpSpPr/>
            <p:nvPr/>
          </p:nvGrpSpPr>
          <p:grpSpPr>
            <a:xfrm>
              <a:off x="6559" y="5666"/>
              <a:ext cx="3048" cy="950"/>
              <a:chOff x="1658307" y="1945554"/>
              <a:chExt cx="3940708" cy="645054"/>
            </a:xfrm>
          </p:grpSpPr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30E8A4BF-BE04-3520-0993-73397DEAC7AD}"/>
                  </a:ext>
                </a:extLst>
              </p:cNvPr>
              <p:cNvGrpSpPr/>
              <p:nvPr/>
            </p:nvGrpSpPr>
            <p:grpSpPr>
              <a:xfrm>
                <a:off x="1658307" y="1945554"/>
                <a:ext cx="3940708" cy="645054"/>
                <a:chOff x="-1136" y="1936"/>
                <a:chExt cx="8399" cy="1152"/>
              </a:xfrm>
            </p:grpSpPr>
            <p:sp>
              <p:nvSpPr>
                <p:cNvPr id="14" name="六边形 13">
                  <a:extLst>
                    <a:ext uri="{FF2B5EF4-FFF2-40B4-BE49-F238E27FC236}">
                      <a16:creationId xmlns:a16="http://schemas.microsoft.com/office/drawing/2014/main" id="{2F25E544-3BF0-072D-DA73-B1F90D9F5BC3}"/>
                    </a:ext>
                  </a:extLst>
                </p:cNvPr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-930" y="2197"/>
                  <a:ext cx="8193" cy="891"/>
                </a:xfrm>
                <a:prstGeom prst="hexagon">
                  <a:avLst>
                    <a:gd name="adj" fmla="val 48077"/>
                    <a:gd name="vf" fmla="val 115470"/>
                  </a:avLst>
                </a:prstGeom>
                <a:noFill/>
                <a:ln w="12700" cap="flat" cmpd="sng" algn="ctr">
                  <a:gradFill>
                    <a:gsLst>
                      <a:gs pos="33000">
                        <a:schemeClr val="accent6">
                          <a:lumMod val="60000"/>
                          <a:lumOff val="40000"/>
                        </a:schemeClr>
                      </a:gs>
                      <a:gs pos="100000">
                        <a:schemeClr val="accent6">
                          <a:lumMod val="75000"/>
                        </a:schemeClr>
                      </a:gs>
                    </a:gsLst>
                    <a:lin ang="2700000" scaled="1"/>
                  </a:gra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1219200">
                    <a:defRPr/>
                  </a:pPr>
                  <a:endParaRPr lang="zh-CN" altLang="en-US" sz="2400" kern="0">
                    <a:solidFill>
                      <a:prstClr val="white"/>
                    </a:solidFill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15" name="六边形 14">
                  <a:extLst>
                    <a:ext uri="{FF2B5EF4-FFF2-40B4-BE49-F238E27FC236}">
                      <a16:creationId xmlns:a16="http://schemas.microsoft.com/office/drawing/2014/main" id="{DE301482-36A8-E966-93E0-F8707FA9F7B1}"/>
                    </a:ext>
                  </a:extLst>
                </p:cNvPr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-1136" y="2094"/>
                  <a:ext cx="8124" cy="883"/>
                </a:xfrm>
                <a:prstGeom prst="hexagon">
                  <a:avLst>
                    <a:gd name="adj" fmla="val 48077"/>
                    <a:gd name="vf" fmla="val 115470"/>
                  </a:avLst>
                </a:prstGeom>
                <a:solidFill>
                  <a:srgbClr val="E96978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1219200">
                    <a:defRPr/>
                  </a:pPr>
                  <a:endParaRPr lang="zh-CN" altLang="en-US" sz="2400" kern="0" dirty="0">
                    <a:gradFill>
                      <a:gsLst>
                        <a:gs pos="69000">
                          <a:srgbClr val="5D3860"/>
                        </a:gs>
                        <a:gs pos="0">
                          <a:srgbClr val="0070C0"/>
                        </a:gs>
                        <a:gs pos="100000">
                          <a:srgbClr val="B40000">
                            <a:lumMod val="97000"/>
                          </a:srgbClr>
                        </a:gs>
                      </a:gsLst>
                      <a:lin ang="4200000" scaled="0"/>
                    </a:gradFill>
                    <a:latin typeface="等线" panose="02010600030101010101" charset="-122"/>
                    <a:ea typeface="等线" panose="02010600030101010101" charset="-122"/>
                    <a:sym typeface="+mn-ea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395B6483-AEC1-A93B-2069-8992460F42C3}"/>
                    </a:ext>
                  </a:extLst>
                </p:cNvPr>
                <p:cNvSpPr txBox="1"/>
                <p:nvPr>
                  <p:custDataLst>
                    <p:tags r:id="rId22"/>
                  </p:custDataLst>
                </p:nvPr>
              </p:nvSpPr>
              <p:spPr>
                <a:xfrm>
                  <a:off x="-788" y="1936"/>
                  <a:ext cx="7656" cy="76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 defTabSz="1219200">
                    <a:lnSpc>
                      <a:spcPct val="130000"/>
                    </a:lnSpc>
                    <a:defRPr/>
                  </a:pPr>
                  <a:endParaRPr lang="zh-CN" altLang="en-US" sz="2665" b="1" kern="0" dirty="0">
                    <a:gradFill>
                      <a:gsLst>
                        <a:gs pos="0">
                          <a:srgbClr val="ECF7F1"/>
                        </a:gs>
                        <a:gs pos="100000">
                          <a:srgbClr val="F6E3BB"/>
                        </a:gs>
                      </a:gsLst>
                      <a:lin ang="5400000" scaled="0"/>
                    </a:gradFill>
                    <a:effectLst>
                      <a:outerShdw blurRad="114300" dist="114300" dir="5400000" sx="99000" sy="99000" algn="t" rotWithShape="0">
                        <a:prstClr val="black">
                          <a:alpha val="17000"/>
                        </a:prstClr>
                      </a:outerShdw>
                    </a:effectLst>
                    <a:ea typeface="微软雅黑" panose="020B0503020204020204" charset="-122"/>
                    <a:sym typeface="逐浪帅宋斜楷体" panose="03000509000000000000" charset="-122"/>
                  </a:endParaRPr>
                </a:p>
              </p:txBody>
            </p:sp>
          </p:grp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31A54FB-B588-3B17-A20C-E3A5B3D05E50}"/>
                  </a:ext>
                </a:extLst>
              </p:cNvPr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2637661" y="2067779"/>
                <a:ext cx="2775967" cy="404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</a:lstStyle>
              <a:p>
                <a:pPr lvl="0" algn="ctr" defTabSz="1219200">
                  <a:buClrTx/>
                  <a:buSzTx/>
                  <a:buFontTx/>
                  <a:defRPr/>
                </a:pPr>
                <a:r>
                  <a:rPr lang="zh-CN" altLang="en-US" sz="2800" b="1" kern="0" dirty="0">
                    <a:gradFill>
                      <a:gsLst>
                        <a:gs pos="0">
                          <a:srgbClr val="ECF7F1"/>
                        </a:gs>
                        <a:gs pos="100000">
                          <a:srgbClr val="F6E3BB"/>
                        </a:gs>
                      </a:gsLst>
                      <a:lin ang="5400000" scaled="0"/>
                    </a:gradFill>
                    <a:effectLst>
                      <a:outerShdw blurRad="114300" dist="114300" dir="5400000" sx="99000" sy="99000" algn="t" rotWithShape="0">
                        <a:prstClr val="black">
                          <a:alpha val="17000"/>
                        </a:prstClr>
                      </a:outerShdw>
                    </a:effectLst>
                    <a:ea typeface="微软雅黑" panose="020B0503020204020204" charset="-122"/>
                    <a:sym typeface="+mn-ea"/>
                  </a:rPr>
                  <a:t>输出</a:t>
                </a:r>
              </a:p>
            </p:txBody>
          </p:sp>
        </p:grpSp>
        <p:pic>
          <p:nvPicPr>
            <p:cNvPr id="10" name="图片 9" descr="共性问题">
              <a:extLst>
                <a:ext uri="{FF2B5EF4-FFF2-40B4-BE49-F238E27FC236}">
                  <a16:creationId xmlns:a16="http://schemas.microsoft.com/office/drawing/2014/main" id="{09FDE47F-75DB-969A-C6D4-57F7B4A9C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855" y="5837"/>
              <a:ext cx="772" cy="687"/>
            </a:xfrm>
            <a:prstGeom prst="rect">
              <a:avLst/>
            </a:prstGeom>
          </p:spPr>
        </p:pic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1BF5060-FAA9-D3B0-05B0-80AB53A9B433}"/>
              </a:ext>
            </a:extLst>
          </p:cNvPr>
          <p:cNvGrpSpPr/>
          <p:nvPr/>
        </p:nvGrpSpPr>
        <p:grpSpPr>
          <a:xfrm>
            <a:off x="2378300" y="3741577"/>
            <a:ext cx="2790398" cy="834238"/>
            <a:chOff x="568161" y="1520009"/>
            <a:chExt cx="2790398" cy="834238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3FA3179-E806-C01F-45B9-65CA65209F45}"/>
                </a:ext>
              </a:extLst>
            </p:cNvPr>
            <p:cNvGrpSpPr/>
            <p:nvPr/>
          </p:nvGrpSpPr>
          <p:grpSpPr>
            <a:xfrm>
              <a:off x="568161" y="1520009"/>
              <a:ext cx="2790398" cy="834238"/>
              <a:chOff x="1658307" y="1945554"/>
              <a:chExt cx="3940708" cy="645054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D718693A-BB07-9A36-4EA9-9C9E38B636C2}"/>
                  </a:ext>
                </a:extLst>
              </p:cNvPr>
              <p:cNvGrpSpPr/>
              <p:nvPr/>
            </p:nvGrpSpPr>
            <p:grpSpPr>
              <a:xfrm>
                <a:off x="1658307" y="1945554"/>
                <a:ext cx="3940708" cy="645054"/>
                <a:chOff x="-1136" y="1936"/>
                <a:chExt cx="8399" cy="1152"/>
              </a:xfrm>
            </p:grpSpPr>
            <p:sp>
              <p:nvSpPr>
                <p:cNvPr id="29" name="六边形 28">
                  <a:extLst>
                    <a:ext uri="{FF2B5EF4-FFF2-40B4-BE49-F238E27FC236}">
                      <a16:creationId xmlns:a16="http://schemas.microsoft.com/office/drawing/2014/main" id="{36938F5E-DDC7-71E8-A145-6B64CD03CA14}"/>
                    </a:ext>
                  </a:extLst>
                </p:cNvPr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-930" y="2197"/>
                  <a:ext cx="8193" cy="891"/>
                </a:xfrm>
                <a:prstGeom prst="hexagon">
                  <a:avLst>
                    <a:gd name="adj" fmla="val 48077"/>
                    <a:gd name="vf" fmla="val 115470"/>
                  </a:avLst>
                </a:prstGeom>
                <a:noFill/>
                <a:ln w="12700" cap="flat" cmpd="sng" algn="ctr">
                  <a:gradFill>
                    <a:gsLst>
                      <a:gs pos="27000">
                        <a:schemeClr val="accent6">
                          <a:lumMod val="60000"/>
                          <a:lumOff val="40000"/>
                        </a:schemeClr>
                      </a:gs>
                      <a:gs pos="100000">
                        <a:schemeClr val="accent6">
                          <a:lumMod val="75000"/>
                        </a:schemeClr>
                      </a:gs>
                    </a:gsLst>
                    <a:lin ang="2700000" scaled="1"/>
                  </a:gradFill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1219200">
                    <a:defRPr/>
                  </a:pPr>
                  <a:endParaRPr lang="zh-CN" altLang="en-US" sz="2400" kern="0">
                    <a:solidFill>
                      <a:prstClr val="white"/>
                    </a:solidFill>
                    <a:latin typeface="等线" panose="02010600030101010101" charset="-122"/>
                    <a:ea typeface="等线" panose="02010600030101010101" charset="-122"/>
                  </a:endParaRPr>
                </a:p>
              </p:txBody>
            </p:sp>
            <p:sp>
              <p:nvSpPr>
                <p:cNvPr id="30" name="六边形 29">
                  <a:extLst>
                    <a:ext uri="{FF2B5EF4-FFF2-40B4-BE49-F238E27FC236}">
                      <a16:creationId xmlns:a16="http://schemas.microsoft.com/office/drawing/2014/main" id="{D984D56D-E32B-6EF4-5109-C5F9C498892F}"/>
                    </a:ext>
                  </a:extLst>
                </p:cNvPr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-1136" y="2094"/>
                  <a:ext cx="8124" cy="883"/>
                </a:xfrm>
                <a:prstGeom prst="hexagon">
                  <a:avLst>
                    <a:gd name="adj" fmla="val 48077"/>
                    <a:gd name="vf" fmla="val 115470"/>
                  </a:avLst>
                </a:prstGeom>
                <a:solidFill>
                  <a:srgbClr val="E96978"/>
                </a:solidFill>
                <a:ln w="12700" cap="flat" cmpd="sng" algn="ctr">
                  <a:noFill/>
                  <a:prstDash val="solid"/>
                  <a:miter lim="800000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  <a:noAutofit/>
                </a:bodyPr>
                <a:lstStyle/>
                <a:p>
                  <a:pPr algn="ctr" defTabSz="1219200">
                    <a:defRPr/>
                  </a:pPr>
                  <a:endParaRPr lang="zh-CN" altLang="en-US" sz="2400" kern="0" dirty="0">
                    <a:gradFill>
                      <a:gsLst>
                        <a:gs pos="69000">
                          <a:srgbClr val="5D3860"/>
                        </a:gs>
                        <a:gs pos="0">
                          <a:srgbClr val="0070C0"/>
                        </a:gs>
                        <a:gs pos="100000">
                          <a:srgbClr val="B40000">
                            <a:lumMod val="97000"/>
                          </a:srgbClr>
                        </a:gs>
                      </a:gsLst>
                      <a:lin ang="4200000" scaled="0"/>
                    </a:gradFill>
                    <a:latin typeface="等线" panose="02010600030101010101" charset="-122"/>
                    <a:ea typeface="等线" panose="02010600030101010101" charset="-122"/>
                    <a:sym typeface="+mn-ea"/>
                  </a:endParaRPr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A4A1BC71-A1FD-333A-63AD-ADA2D7B6282A}"/>
                    </a:ext>
                  </a:extLst>
                </p:cNvPr>
                <p:cNvSpPr txBox="1"/>
                <p:nvPr>
                  <p:custDataLst>
                    <p:tags r:id="rId18"/>
                  </p:custDataLst>
                </p:nvPr>
              </p:nvSpPr>
              <p:spPr>
                <a:xfrm>
                  <a:off x="-788" y="1936"/>
                  <a:ext cx="7656" cy="769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pPr algn="ctr" defTabSz="1219200">
                    <a:lnSpc>
                      <a:spcPct val="130000"/>
                    </a:lnSpc>
                    <a:defRPr/>
                  </a:pPr>
                  <a:endParaRPr lang="zh-CN" altLang="en-US" sz="2665" b="1" kern="0" dirty="0">
                    <a:gradFill>
                      <a:gsLst>
                        <a:gs pos="0">
                          <a:srgbClr val="ECF7F1"/>
                        </a:gs>
                        <a:gs pos="100000">
                          <a:srgbClr val="F6E3BB"/>
                        </a:gs>
                      </a:gsLst>
                      <a:lin ang="5400000" scaled="0"/>
                    </a:gradFill>
                    <a:effectLst>
                      <a:outerShdw blurRad="114300" dist="114300" dir="5400000" sx="99000" sy="99000" algn="t" rotWithShape="0">
                        <a:prstClr val="black">
                          <a:alpha val="17000"/>
                        </a:prstClr>
                      </a:outerShdw>
                    </a:effectLst>
                    <a:ea typeface="微软雅黑" panose="020B0503020204020204" charset="-122"/>
                    <a:sym typeface="逐浪帅宋斜楷体" panose="03000509000000000000" charset="-122"/>
                  </a:endParaRPr>
                </a:p>
              </p:txBody>
            </p:sp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DEA4C4E-C9E2-1A93-A27F-65C772B2D2B9}"/>
                  </a:ext>
                </a:extLst>
              </p:cNvPr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637661" y="2067779"/>
                <a:ext cx="2775967" cy="404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</a:lstStyle>
              <a:p>
                <a:pPr lvl="0" algn="ctr" defTabSz="1219200">
                  <a:buClrTx/>
                  <a:buSzTx/>
                  <a:buFontTx/>
                  <a:defRPr/>
                </a:pPr>
                <a:r>
                  <a:rPr lang="zh-CN" altLang="en-US" sz="2800" b="1" kern="0" dirty="0">
                    <a:gradFill>
                      <a:gsLst>
                        <a:gs pos="0">
                          <a:srgbClr val="ECF7F1"/>
                        </a:gs>
                        <a:gs pos="100000">
                          <a:srgbClr val="F6E3BB"/>
                        </a:gs>
                      </a:gsLst>
                      <a:lin ang="5400000" scaled="0"/>
                    </a:gradFill>
                    <a:effectLst>
                      <a:outerShdw blurRad="114300" dist="114300" dir="5400000" sx="99000" sy="99000" algn="t" rotWithShape="0">
                        <a:prstClr val="black">
                          <a:alpha val="17000"/>
                        </a:prstClr>
                      </a:outerShdw>
                    </a:effectLst>
                    <a:ea typeface="微软雅黑" panose="020B0503020204020204" charset="-122"/>
                    <a:sym typeface="+mn-ea"/>
                  </a:rPr>
                  <a:t>整理</a:t>
                </a:r>
              </a:p>
            </p:txBody>
          </p:sp>
        </p:grpSp>
        <p:sp>
          <p:nvSpPr>
            <p:cNvPr id="22" name="Freeform 325">
              <a:extLst>
                <a:ext uri="{FF2B5EF4-FFF2-40B4-BE49-F238E27FC236}">
                  <a16:creationId xmlns:a16="http://schemas.microsoft.com/office/drawing/2014/main" id="{4F17A016-BAF1-E77E-2C83-31D1559B56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30014" y="1719910"/>
              <a:ext cx="514257" cy="471402"/>
            </a:xfrm>
            <a:custGeom>
              <a:avLst/>
              <a:gdLst>
                <a:gd name="T0" fmla="*/ 121 w 156"/>
                <a:gd name="T1" fmla="*/ 0 h 143"/>
                <a:gd name="T2" fmla="*/ 128 w 156"/>
                <a:gd name="T3" fmla="*/ 8 h 143"/>
                <a:gd name="T4" fmla="*/ 116 w 156"/>
                <a:gd name="T5" fmla="*/ 41 h 143"/>
                <a:gd name="T6" fmla="*/ 29 w 156"/>
                <a:gd name="T7" fmla="*/ 12 h 143"/>
                <a:gd name="T8" fmla="*/ 36 w 156"/>
                <a:gd name="T9" fmla="*/ 19 h 143"/>
                <a:gd name="T10" fmla="*/ 45 w 156"/>
                <a:gd name="T11" fmla="*/ 27 h 143"/>
                <a:gd name="T12" fmla="*/ 29 w 156"/>
                <a:gd name="T13" fmla="*/ 34 h 143"/>
                <a:gd name="T14" fmla="*/ 36 w 156"/>
                <a:gd name="T15" fmla="*/ 38 h 143"/>
                <a:gd name="T16" fmla="*/ 45 w 156"/>
                <a:gd name="T17" fmla="*/ 48 h 143"/>
                <a:gd name="T18" fmla="*/ 29 w 156"/>
                <a:gd name="T19" fmla="*/ 55 h 143"/>
                <a:gd name="T20" fmla="*/ 36 w 156"/>
                <a:gd name="T21" fmla="*/ 60 h 143"/>
                <a:gd name="T22" fmla="*/ 45 w 156"/>
                <a:gd name="T23" fmla="*/ 67 h 143"/>
                <a:gd name="T24" fmla="*/ 29 w 156"/>
                <a:gd name="T25" fmla="*/ 74 h 143"/>
                <a:gd name="T26" fmla="*/ 36 w 156"/>
                <a:gd name="T27" fmla="*/ 79 h 143"/>
                <a:gd name="T28" fmla="*/ 45 w 156"/>
                <a:gd name="T29" fmla="*/ 88 h 143"/>
                <a:gd name="T30" fmla="*/ 29 w 156"/>
                <a:gd name="T31" fmla="*/ 95 h 143"/>
                <a:gd name="T32" fmla="*/ 36 w 156"/>
                <a:gd name="T33" fmla="*/ 100 h 143"/>
                <a:gd name="T34" fmla="*/ 45 w 156"/>
                <a:gd name="T35" fmla="*/ 109 h 143"/>
                <a:gd name="T36" fmla="*/ 29 w 156"/>
                <a:gd name="T37" fmla="*/ 117 h 143"/>
                <a:gd name="T38" fmla="*/ 29 w 156"/>
                <a:gd name="T39" fmla="*/ 131 h 143"/>
                <a:gd name="T40" fmla="*/ 116 w 156"/>
                <a:gd name="T41" fmla="*/ 102 h 143"/>
                <a:gd name="T42" fmla="*/ 128 w 156"/>
                <a:gd name="T43" fmla="*/ 136 h 143"/>
                <a:gd name="T44" fmla="*/ 121 w 156"/>
                <a:gd name="T45" fmla="*/ 143 h 143"/>
                <a:gd name="T46" fmla="*/ 17 w 156"/>
                <a:gd name="T47" fmla="*/ 143 h 143"/>
                <a:gd name="T48" fmla="*/ 17 w 156"/>
                <a:gd name="T49" fmla="*/ 126 h 143"/>
                <a:gd name="T50" fmla="*/ 0 w 156"/>
                <a:gd name="T51" fmla="*/ 114 h 143"/>
                <a:gd name="T52" fmla="*/ 17 w 156"/>
                <a:gd name="T53" fmla="*/ 105 h 143"/>
                <a:gd name="T54" fmla="*/ 0 w 156"/>
                <a:gd name="T55" fmla="*/ 93 h 143"/>
                <a:gd name="T56" fmla="*/ 17 w 156"/>
                <a:gd name="T57" fmla="*/ 86 h 143"/>
                <a:gd name="T58" fmla="*/ 0 w 156"/>
                <a:gd name="T59" fmla="*/ 74 h 143"/>
                <a:gd name="T60" fmla="*/ 17 w 156"/>
                <a:gd name="T61" fmla="*/ 64 h 143"/>
                <a:gd name="T62" fmla="*/ 0 w 156"/>
                <a:gd name="T63" fmla="*/ 53 h 143"/>
                <a:gd name="T64" fmla="*/ 17 w 156"/>
                <a:gd name="T65" fmla="*/ 45 h 143"/>
                <a:gd name="T66" fmla="*/ 0 w 156"/>
                <a:gd name="T67" fmla="*/ 34 h 143"/>
                <a:gd name="T68" fmla="*/ 17 w 156"/>
                <a:gd name="T69" fmla="*/ 8 h 143"/>
                <a:gd name="T70" fmla="*/ 24 w 156"/>
                <a:gd name="T71" fmla="*/ 0 h 143"/>
                <a:gd name="T72" fmla="*/ 57 w 156"/>
                <a:gd name="T73" fmla="*/ 69 h 143"/>
                <a:gd name="T74" fmla="*/ 74 w 156"/>
                <a:gd name="T75" fmla="*/ 76 h 143"/>
                <a:gd name="T76" fmla="*/ 57 w 156"/>
                <a:gd name="T77" fmla="*/ 69 h 143"/>
                <a:gd name="T78" fmla="*/ 57 w 156"/>
                <a:gd name="T79" fmla="*/ 55 h 143"/>
                <a:gd name="T80" fmla="*/ 86 w 156"/>
                <a:gd name="T81" fmla="*/ 60 h 143"/>
                <a:gd name="T82" fmla="*/ 57 w 156"/>
                <a:gd name="T83" fmla="*/ 55 h 143"/>
                <a:gd name="T84" fmla="*/ 57 w 156"/>
                <a:gd name="T85" fmla="*/ 38 h 143"/>
                <a:gd name="T86" fmla="*/ 100 w 156"/>
                <a:gd name="T87" fmla="*/ 45 h 143"/>
                <a:gd name="T88" fmla="*/ 57 w 156"/>
                <a:gd name="T89" fmla="*/ 38 h 143"/>
                <a:gd name="T90" fmla="*/ 57 w 156"/>
                <a:gd name="T91" fmla="*/ 24 h 143"/>
                <a:gd name="T92" fmla="*/ 100 w 156"/>
                <a:gd name="T93" fmla="*/ 31 h 143"/>
                <a:gd name="T94" fmla="*/ 57 w 156"/>
                <a:gd name="T95" fmla="*/ 24 h 143"/>
                <a:gd name="T96" fmla="*/ 74 w 156"/>
                <a:gd name="T97" fmla="*/ 114 h 143"/>
                <a:gd name="T98" fmla="*/ 93 w 156"/>
                <a:gd name="T99" fmla="*/ 112 h 143"/>
                <a:gd name="T100" fmla="*/ 76 w 156"/>
                <a:gd name="T101" fmla="*/ 95 h 143"/>
                <a:gd name="T102" fmla="*/ 74 w 156"/>
                <a:gd name="T103" fmla="*/ 114 h 143"/>
                <a:gd name="T104" fmla="*/ 140 w 156"/>
                <a:gd name="T105" fmla="*/ 31 h 143"/>
                <a:gd name="T106" fmla="*/ 100 w 156"/>
                <a:gd name="T107" fmla="*/ 105 h 143"/>
                <a:gd name="T108" fmla="*/ 140 w 156"/>
                <a:gd name="T109" fmla="*/ 3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56" h="143">
                  <a:moveTo>
                    <a:pt x="24" y="0"/>
                  </a:moveTo>
                  <a:lnTo>
                    <a:pt x="121" y="0"/>
                  </a:lnTo>
                  <a:lnTo>
                    <a:pt x="128" y="0"/>
                  </a:lnTo>
                  <a:lnTo>
                    <a:pt x="128" y="8"/>
                  </a:lnTo>
                  <a:lnTo>
                    <a:pt x="128" y="29"/>
                  </a:lnTo>
                  <a:lnTo>
                    <a:pt x="116" y="41"/>
                  </a:lnTo>
                  <a:lnTo>
                    <a:pt x="116" y="12"/>
                  </a:lnTo>
                  <a:lnTo>
                    <a:pt x="29" y="12"/>
                  </a:lnTo>
                  <a:lnTo>
                    <a:pt x="29" y="22"/>
                  </a:lnTo>
                  <a:lnTo>
                    <a:pt x="36" y="19"/>
                  </a:lnTo>
                  <a:lnTo>
                    <a:pt x="41" y="17"/>
                  </a:lnTo>
                  <a:lnTo>
                    <a:pt x="45" y="27"/>
                  </a:lnTo>
                  <a:lnTo>
                    <a:pt x="41" y="29"/>
                  </a:lnTo>
                  <a:lnTo>
                    <a:pt x="29" y="34"/>
                  </a:lnTo>
                  <a:lnTo>
                    <a:pt x="29" y="41"/>
                  </a:lnTo>
                  <a:lnTo>
                    <a:pt x="36" y="38"/>
                  </a:lnTo>
                  <a:lnTo>
                    <a:pt x="41" y="36"/>
                  </a:lnTo>
                  <a:lnTo>
                    <a:pt x="45" y="48"/>
                  </a:lnTo>
                  <a:lnTo>
                    <a:pt x="41" y="50"/>
                  </a:lnTo>
                  <a:lnTo>
                    <a:pt x="29" y="55"/>
                  </a:lnTo>
                  <a:lnTo>
                    <a:pt x="29" y="62"/>
                  </a:lnTo>
                  <a:lnTo>
                    <a:pt x="36" y="60"/>
                  </a:lnTo>
                  <a:lnTo>
                    <a:pt x="41" y="57"/>
                  </a:lnTo>
                  <a:lnTo>
                    <a:pt x="45" y="67"/>
                  </a:lnTo>
                  <a:lnTo>
                    <a:pt x="41" y="69"/>
                  </a:lnTo>
                  <a:lnTo>
                    <a:pt x="29" y="74"/>
                  </a:lnTo>
                  <a:lnTo>
                    <a:pt x="29" y="81"/>
                  </a:lnTo>
                  <a:lnTo>
                    <a:pt x="36" y="79"/>
                  </a:lnTo>
                  <a:lnTo>
                    <a:pt x="41" y="76"/>
                  </a:lnTo>
                  <a:lnTo>
                    <a:pt x="45" y="88"/>
                  </a:lnTo>
                  <a:lnTo>
                    <a:pt x="41" y="91"/>
                  </a:lnTo>
                  <a:lnTo>
                    <a:pt x="29" y="95"/>
                  </a:lnTo>
                  <a:lnTo>
                    <a:pt x="29" y="102"/>
                  </a:lnTo>
                  <a:lnTo>
                    <a:pt x="36" y="100"/>
                  </a:lnTo>
                  <a:lnTo>
                    <a:pt x="41" y="98"/>
                  </a:lnTo>
                  <a:lnTo>
                    <a:pt x="45" y="109"/>
                  </a:lnTo>
                  <a:lnTo>
                    <a:pt x="41" y="112"/>
                  </a:lnTo>
                  <a:lnTo>
                    <a:pt x="29" y="117"/>
                  </a:lnTo>
                  <a:lnTo>
                    <a:pt x="29" y="126"/>
                  </a:lnTo>
                  <a:lnTo>
                    <a:pt x="29" y="131"/>
                  </a:lnTo>
                  <a:lnTo>
                    <a:pt x="116" y="131"/>
                  </a:lnTo>
                  <a:lnTo>
                    <a:pt x="116" y="102"/>
                  </a:lnTo>
                  <a:lnTo>
                    <a:pt x="128" y="91"/>
                  </a:lnTo>
                  <a:lnTo>
                    <a:pt x="128" y="136"/>
                  </a:lnTo>
                  <a:lnTo>
                    <a:pt x="128" y="143"/>
                  </a:lnTo>
                  <a:lnTo>
                    <a:pt x="121" y="143"/>
                  </a:lnTo>
                  <a:lnTo>
                    <a:pt x="24" y="143"/>
                  </a:lnTo>
                  <a:lnTo>
                    <a:pt x="17" y="143"/>
                  </a:lnTo>
                  <a:lnTo>
                    <a:pt x="17" y="136"/>
                  </a:lnTo>
                  <a:lnTo>
                    <a:pt x="17" y="126"/>
                  </a:lnTo>
                  <a:lnTo>
                    <a:pt x="3" y="126"/>
                  </a:lnTo>
                  <a:lnTo>
                    <a:pt x="0" y="114"/>
                  </a:lnTo>
                  <a:lnTo>
                    <a:pt x="17" y="109"/>
                  </a:lnTo>
                  <a:lnTo>
                    <a:pt x="17" y="105"/>
                  </a:lnTo>
                  <a:lnTo>
                    <a:pt x="3" y="105"/>
                  </a:lnTo>
                  <a:lnTo>
                    <a:pt x="0" y="93"/>
                  </a:lnTo>
                  <a:lnTo>
                    <a:pt x="17" y="86"/>
                  </a:lnTo>
                  <a:lnTo>
                    <a:pt x="17" y="86"/>
                  </a:lnTo>
                  <a:lnTo>
                    <a:pt x="3" y="86"/>
                  </a:lnTo>
                  <a:lnTo>
                    <a:pt x="0" y="74"/>
                  </a:lnTo>
                  <a:lnTo>
                    <a:pt x="17" y="67"/>
                  </a:lnTo>
                  <a:lnTo>
                    <a:pt x="17" y="64"/>
                  </a:lnTo>
                  <a:lnTo>
                    <a:pt x="3" y="64"/>
                  </a:lnTo>
                  <a:lnTo>
                    <a:pt x="0" y="53"/>
                  </a:lnTo>
                  <a:lnTo>
                    <a:pt x="17" y="45"/>
                  </a:lnTo>
                  <a:lnTo>
                    <a:pt x="17" y="45"/>
                  </a:lnTo>
                  <a:lnTo>
                    <a:pt x="3" y="45"/>
                  </a:lnTo>
                  <a:lnTo>
                    <a:pt x="0" y="34"/>
                  </a:lnTo>
                  <a:lnTo>
                    <a:pt x="17" y="27"/>
                  </a:lnTo>
                  <a:lnTo>
                    <a:pt x="17" y="8"/>
                  </a:lnTo>
                  <a:lnTo>
                    <a:pt x="17" y="0"/>
                  </a:lnTo>
                  <a:lnTo>
                    <a:pt x="24" y="0"/>
                  </a:lnTo>
                  <a:lnTo>
                    <a:pt x="24" y="0"/>
                  </a:lnTo>
                  <a:close/>
                  <a:moveTo>
                    <a:pt x="57" y="69"/>
                  </a:moveTo>
                  <a:lnTo>
                    <a:pt x="57" y="76"/>
                  </a:lnTo>
                  <a:lnTo>
                    <a:pt x="74" y="76"/>
                  </a:lnTo>
                  <a:lnTo>
                    <a:pt x="74" y="69"/>
                  </a:lnTo>
                  <a:lnTo>
                    <a:pt x="57" y="69"/>
                  </a:lnTo>
                  <a:lnTo>
                    <a:pt x="57" y="69"/>
                  </a:lnTo>
                  <a:close/>
                  <a:moveTo>
                    <a:pt x="57" y="55"/>
                  </a:moveTo>
                  <a:lnTo>
                    <a:pt x="57" y="60"/>
                  </a:lnTo>
                  <a:lnTo>
                    <a:pt x="86" y="60"/>
                  </a:lnTo>
                  <a:lnTo>
                    <a:pt x="86" y="55"/>
                  </a:lnTo>
                  <a:lnTo>
                    <a:pt x="57" y="55"/>
                  </a:lnTo>
                  <a:lnTo>
                    <a:pt x="57" y="55"/>
                  </a:lnTo>
                  <a:close/>
                  <a:moveTo>
                    <a:pt x="57" y="38"/>
                  </a:moveTo>
                  <a:lnTo>
                    <a:pt x="57" y="45"/>
                  </a:lnTo>
                  <a:lnTo>
                    <a:pt x="100" y="45"/>
                  </a:lnTo>
                  <a:lnTo>
                    <a:pt x="100" y="38"/>
                  </a:lnTo>
                  <a:lnTo>
                    <a:pt x="57" y="38"/>
                  </a:lnTo>
                  <a:lnTo>
                    <a:pt x="57" y="38"/>
                  </a:lnTo>
                  <a:close/>
                  <a:moveTo>
                    <a:pt x="57" y="24"/>
                  </a:moveTo>
                  <a:lnTo>
                    <a:pt x="57" y="31"/>
                  </a:lnTo>
                  <a:lnTo>
                    <a:pt x="100" y="31"/>
                  </a:lnTo>
                  <a:lnTo>
                    <a:pt x="100" y="24"/>
                  </a:lnTo>
                  <a:lnTo>
                    <a:pt x="57" y="24"/>
                  </a:lnTo>
                  <a:lnTo>
                    <a:pt x="57" y="24"/>
                  </a:lnTo>
                  <a:close/>
                  <a:moveTo>
                    <a:pt x="74" y="114"/>
                  </a:moveTo>
                  <a:lnTo>
                    <a:pt x="83" y="114"/>
                  </a:lnTo>
                  <a:lnTo>
                    <a:pt x="93" y="112"/>
                  </a:lnTo>
                  <a:lnTo>
                    <a:pt x="83" y="102"/>
                  </a:lnTo>
                  <a:lnTo>
                    <a:pt x="76" y="95"/>
                  </a:lnTo>
                  <a:lnTo>
                    <a:pt x="74" y="105"/>
                  </a:lnTo>
                  <a:lnTo>
                    <a:pt x="74" y="114"/>
                  </a:lnTo>
                  <a:lnTo>
                    <a:pt x="74" y="114"/>
                  </a:lnTo>
                  <a:close/>
                  <a:moveTo>
                    <a:pt x="140" y="31"/>
                  </a:moveTo>
                  <a:lnTo>
                    <a:pt x="83" y="86"/>
                  </a:lnTo>
                  <a:lnTo>
                    <a:pt x="100" y="105"/>
                  </a:lnTo>
                  <a:lnTo>
                    <a:pt x="156" y="50"/>
                  </a:lnTo>
                  <a:lnTo>
                    <a:pt x="140" y="3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3D0CCC27-321A-84A9-C5CE-7CF5FC14D33C}"/>
              </a:ext>
            </a:extLst>
          </p:cNvPr>
          <p:cNvGrpSpPr/>
          <p:nvPr/>
        </p:nvGrpSpPr>
        <p:grpSpPr>
          <a:xfrm>
            <a:off x="6707269" y="5186874"/>
            <a:ext cx="2790398" cy="834238"/>
            <a:chOff x="1658307" y="1945554"/>
            <a:chExt cx="3940708" cy="645054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6EAC74E5-400F-EAC6-D1C9-F656C179D277}"/>
                </a:ext>
              </a:extLst>
            </p:cNvPr>
            <p:cNvGrpSpPr/>
            <p:nvPr/>
          </p:nvGrpSpPr>
          <p:grpSpPr>
            <a:xfrm>
              <a:off x="1658307" y="1945554"/>
              <a:ext cx="3940708" cy="645054"/>
              <a:chOff x="-1136" y="1936"/>
              <a:chExt cx="8399" cy="1152"/>
            </a:xfrm>
          </p:grpSpPr>
          <p:sp>
            <p:nvSpPr>
              <p:cNvPr id="35" name="六边形 34">
                <a:extLst>
                  <a:ext uri="{FF2B5EF4-FFF2-40B4-BE49-F238E27FC236}">
                    <a16:creationId xmlns:a16="http://schemas.microsoft.com/office/drawing/2014/main" id="{E4A678BD-FD86-DF6D-74DC-5CE97125359C}"/>
                  </a:ext>
                </a:extLst>
              </p:cNvPr>
              <p:cNvSpPr/>
              <p:nvPr>
                <p:custDataLst>
                  <p:tags r:id="rId12"/>
                </p:custDataLst>
              </p:nvPr>
            </p:nvSpPr>
            <p:spPr>
              <a:xfrm>
                <a:off x="-930" y="2197"/>
                <a:ext cx="8193" cy="891"/>
              </a:xfrm>
              <a:prstGeom prst="hexagon">
                <a:avLst>
                  <a:gd name="adj" fmla="val 48077"/>
                  <a:gd name="vf" fmla="val 115470"/>
                </a:avLst>
              </a:prstGeom>
              <a:noFill/>
              <a:ln w="12700" cap="flat" cmpd="sng" algn="ctr">
                <a:gradFill>
                  <a:gsLst>
                    <a:gs pos="3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27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zh-CN" altLang="en-US" sz="2400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36" name="六边形 35">
                <a:extLst>
                  <a:ext uri="{FF2B5EF4-FFF2-40B4-BE49-F238E27FC236}">
                    <a16:creationId xmlns:a16="http://schemas.microsoft.com/office/drawing/2014/main" id="{2839CD3A-B47E-8BC7-64F8-342F2B576198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>
              <a:xfrm>
                <a:off x="-1136" y="2081"/>
                <a:ext cx="8124" cy="883"/>
              </a:xfrm>
              <a:prstGeom prst="hexagon">
                <a:avLst>
                  <a:gd name="adj" fmla="val 48077"/>
                  <a:gd name="vf" fmla="val 115470"/>
                </a:avLst>
              </a:prstGeom>
              <a:solidFill>
                <a:srgbClr val="E9697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algn="ctr" defTabSz="1219200">
                  <a:defRPr/>
                </a:pPr>
                <a:endParaRPr lang="zh-CN" altLang="en-US" sz="2400" kern="0" dirty="0">
                  <a:gradFill>
                    <a:gsLst>
                      <a:gs pos="69000">
                        <a:srgbClr val="5D3860"/>
                      </a:gs>
                      <a:gs pos="0">
                        <a:srgbClr val="0070C0"/>
                      </a:gs>
                      <a:gs pos="100000">
                        <a:srgbClr val="B40000">
                          <a:lumMod val="97000"/>
                        </a:srgbClr>
                      </a:gs>
                    </a:gsLst>
                    <a:lin ang="4200000" scaled="0"/>
                  </a:gradFill>
                  <a:latin typeface="等线" panose="02010600030101010101" charset="-122"/>
                  <a:ea typeface="等线" panose="02010600030101010101" charset="-122"/>
                  <a:sym typeface="+mn-ea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E71B2A90-ECBE-2895-3EBC-372C05F190B3}"/>
                  </a:ext>
                </a:extLst>
              </p:cNvPr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-788" y="1936"/>
                <a:ext cx="7656" cy="76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1219200">
                  <a:lnSpc>
                    <a:spcPct val="130000"/>
                  </a:lnSpc>
                  <a:defRPr/>
                </a:pPr>
                <a:endParaRPr lang="zh-CN" altLang="en-US" sz="2665" b="1" kern="0" dirty="0">
                  <a:gradFill>
                    <a:gsLst>
                      <a:gs pos="0">
                        <a:srgbClr val="ECF7F1"/>
                      </a:gs>
                      <a:gs pos="100000">
                        <a:srgbClr val="F6E3BB"/>
                      </a:gs>
                    </a:gsLst>
                    <a:lin ang="5400000" scaled="0"/>
                  </a:gradFill>
                  <a:effectLst>
                    <a:outerShdw blurRad="114300" dist="114300" dir="5400000" sx="99000" sy="99000" algn="t" rotWithShape="0">
                      <a:prstClr val="black">
                        <a:alpha val="17000"/>
                      </a:prstClr>
                    </a:outerShdw>
                  </a:effectLst>
                  <a:ea typeface="微软雅黑" panose="020B0503020204020204" charset="-122"/>
                  <a:sym typeface="逐浪帅宋斜楷体" panose="03000509000000000000" charset="-122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DA1DEC57-967E-8C18-4FF4-90FE60D3D5C9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2637661" y="2067779"/>
              <a:ext cx="2775967" cy="404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</a:lstStyle>
            <a:p>
              <a:pPr lvl="0" algn="ctr" defTabSz="1219200">
                <a:buClrTx/>
                <a:buSzTx/>
                <a:buFontTx/>
                <a:defRPr/>
              </a:pPr>
              <a:r>
                <a:rPr lang="zh-CN" altLang="en-US" sz="2800" b="1" kern="0" dirty="0">
                  <a:gradFill>
                    <a:gsLst>
                      <a:gs pos="0">
                        <a:srgbClr val="ECF7F1"/>
                      </a:gs>
                      <a:gs pos="100000">
                        <a:srgbClr val="F6E3BB"/>
                      </a:gs>
                    </a:gsLst>
                    <a:lin ang="5400000" scaled="0"/>
                  </a:gradFill>
                  <a:effectLst>
                    <a:outerShdw blurRad="114300" dist="114300" dir="5400000" sx="99000" sy="99000" algn="t" rotWithShape="0">
                      <a:prstClr val="black">
                        <a:alpha val="17000"/>
                      </a:prstClr>
                    </a:outerShdw>
                  </a:effectLst>
                  <a:ea typeface="微软雅黑" panose="020B0503020204020204" charset="-122"/>
                  <a:sym typeface="+mn-ea"/>
                </a:rPr>
                <a:t>协同</a:t>
              </a:r>
            </a:p>
          </p:txBody>
        </p:sp>
      </p:grpSp>
      <p:sp>
        <p:nvSpPr>
          <p:cNvPr id="38" name="Freeform 99">
            <a:extLst>
              <a:ext uri="{FF2B5EF4-FFF2-40B4-BE49-F238E27FC236}">
                <a16:creationId xmlns:a16="http://schemas.microsoft.com/office/drawing/2014/main" id="{1A27DC64-9101-65DA-2E1A-D196A9746E88}"/>
              </a:ext>
            </a:extLst>
          </p:cNvPr>
          <p:cNvSpPr>
            <a:spLocks noEditPoints="1"/>
          </p:cNvSpPr>
          <p:nvPr/>
        </p:nvSpPr>
        <p:spPr bwMode="auto">
          <a:xfrm>
            <a:off x="7084116" y="5348372"/>
            <a:ext cx="465044" cy="478276"/>
          </a:xfrm>
          <a:custGeom>
            <a:avLst/>
            <a:gdLst>
              <a:gd name="T0" fmla="*/ 50 w 104"/>
              <a:gd name="T1" fmla="*/ 26 h 107"/>
              <a:gd name="T2" fmla="*/ 5 w 104"/>
              <a:gd name="T3" fmla="*/ 51 h 107"/>
              <a:gd name="T4" fmla="*/ 67 w 104"/>
              <a:gd name="T5" fmla="*/ 93 h 107"/>
              <a:gd name="T6" fmla="*/ 102 w 104"/>
              <a:gd name="T7" fmla="*/ 107 h 107"/>
              <a:gd name="T8" fmla="*/ 67 w 104"/>
              <a:gd name="T9" fmla="*/ 93 h 107"/>
              <a:gd name="T10" fmla="*/ 81 w 104"/>
              <a:gd name="T11" fmla="*/ 83 h 107"/>
              <a:gd name="T12" fmla="*/ 85 w 104"/>
              <a:gd name="T13" fmla="*/ 91 h 107"/>
              <a:gd name="T14" fmla="*/ 88 w 104"/>
              <a:gd name="T15" fmla="*/ 83 h 107"/>
              <a:gd name="T16" fmla="*/ 81 w 104"/>
              <a:gd name="T17" fmla="*/ 75 h 107"/>
              <a:gd name="T18" fmla="*/ 55 w 104"/>
              <a:gd name="T19" fmla="*/ 73 h 107"/>
              <a:gd name="T20" fmla="*/ 0 w 104"/>
              <a:gd name="T21" fmla="*/ 107 h 107"/>
              <a:gd name="T22" fmla="*/ 83 w 104"/>
              <a:gd name="T23" fmla="*/ 48 h 107"/>
              <a:gd name="T24" fmla="*/ 83 w 104"/>
              <a:gd name="T25" fmla="*/ 72 h 107"/>
              <a:gd name="T26" fmla="*/ 83 w 104"/>
              <a:gd name="T27" fmla="*/ 48 h 107"/>
              <a:gd name="T28" fmla="*/ 59 w 104"/>
              <a:gd name="T29" fmla="*/ 46 h 107"/>
              <a:gd name="T30" fmla="*/ 68 w 104"/>
              <a:gd name="T31" fmla="*/ 48 h 107"/>
              <a:gd name="T32" fmla="*/ 63 w 104"/>
              <a:gd name="T33" fmla="*/ 41 h 107"/>
              <a:gd name="T34" fmla="*/ 52 w 104"/>
              <a:gd name="T35" fmla="*/ 42 h 107"/>
              <a:gd name="T36" fmla="*/ 37 w 104"/>
              <a:gd name="T37" fmla="*/ 20 h 107"/>
              <a:gd name="T38" fmla="*/ 33 w 104"/>
              <a:gd name="T39" fmla="*/ 0 h 107"/>
              <a:gd name="T40" fmla="*/ 42 w 104"/>
              <a:gd name="T41" fmla="*/ 1 h 107"/>
              <a:gd name="T42" fmla="*/ 43 w 104"/>
              <a:gd name="T43" fmla="*/ 9 h 107"/>
              <a:gd name="T44" fmla="*/ 37 w 104"/>
              <a:gd name="T45" fmla="*/ 13 h 107"/>
              <a:gd name="T46" fmla="*/ 39 w 104"/>
              <a:gd name="T47" fmla="*/ 4 h 107"/>
              <a:gd name="T48" fmla="*/ 37 w 104"/>
              <a:gd name="T49" fmla="*/ 10 h 107"/>
              <a:gd name="T50" fmla="*/ 48 w 104"/>
              <a:gd name="T51" fmla="*/ 20 h 107"/>
              <a:gd name="T52" fmla="*/ 44 w 104"/>
              <a:gd name="T53" fmla="*/ 0 h 107"/>
              <a:gd name="T54" fmla="*/ 48 w 104"/>
              <a:gd name="T55" fmla="*/ 20 h 107"/>
              <a:gd name="T56" fmla="*/ 55 w 104"/>
              <a:gd name="T57" fmla="*/ 20 h 107"/>
              <a:gd name="T58" fmla="*/ 52 w 104"/>
              <a:gd name="T59" fmla="*/ 21 h 107"/>
              <a:gd name="T60" fmla="*/ 49 w 104"/>
              <a:gd name="T61" fmla="*/ 15 h 107"/>
              <a:gd name="T62" fmla="*/ 53 w 104"/>
              <a:gd name="T63" fmla="*/ 11 h 107"/>
              <a:gd name="T64" fmla="*/ 54 w 104"/>
              <a:gd name="T65" fmla="*/ 7 h 107"/>
              <a:gd name="T66" fmla="*/ 53 w 104"/>
              <a:gd name="T67" fmla="*/ 8 h 107"/>
              <a:gd name="T68" fmla="*/ 53 w 104"/>
              <a:gd name="T69" fmla="*/ 10 h 107"/>
              <a:gd name="T70" fmla="*/ 49 w 104"/>
              <a:gd name="T71" fmla="*/ 7 h 107"/>
              <a:gd name="T72" fmla="*/ 59 w 104"/>
              <a:gd name="T73" fmla="*/ 7 h 107"/>
              <a:gd name="T74" fmla="*/ 54 w 104"/>
              <a:gd name="T75" fmla="*/ 17 h 107"/>
              <a:gd name="T76" fmla="*/ 53 w 104"/>
              <a:gd name="T77" fmla="*/ 14 h 107"/>
              <a:gd name="T78" fmla="*/ 54 w 104"/>
              <a:gd name="T79" fmla="*/ 18 h 107"/>
              <a:gd name="T80" fmla="*/ 69 w 104"/>
              <a:gd name="T81" fmla="*/ 20 h 107"/>
              <a:gd name="T82" fmla="*/ 65 w 104"/>
              <a:gd name="T83" fmla="*/ 7 h 107"/>
              <a:gd name="T84" fmla="*/ 64 w 104"/>
              <a:gd name="T85" fmla="*/ 7 h 107"/>
              <a:gd name="T86" fmla="*/ 59 w 104"/>
              <a:gd name="T87" fmla="*/ 20 h 107"/>
              <a:gd name="T88" fmla="*/ 64 w 104"/>
              <a:gd name="T89" fmla="*/ 4 h 107"/>
              <a:gd name="T90" fmla="*/ 66 w 104"/>
              <a:gd name="T91" fmla="*/ 4 h 107"/>
              <a:gd name="T92" fmla="*/ 69 w 104"/>
              <a:gd name="T93" fmla="*/ 6 h 107"/>
              <a:gd name="T94" fmla="*/ 24 w 104"/>
              <a:gd name="T95" fmla="*/ 55 h 107"/>
              <a:gd name="T96" fmla="*/ 21 w 104"/>
              <a:gd name="T97" fmla="*/ 63 h 107"/>
              <a:gd name="T98" fmla="*/ 34 w 104"/>
              <a:gd name="T99" fmla="*/ 63 h 107"/>
              <a:gd name="T100" fmla="*/ 31 w 104"/>
              <a:gd name="T101" fmla="*/ 55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04" h="107">
                <a:moveTo>
                  <a:pt x="5" y="26"/>
                </a:moveTo>
                <a:cubicBezTo>
                  <a:pt x="50" y="26"/>
                  <a:pt x="50" y="26"/>
                  <a:pt x="50" y="26"/>
                </a:cubicBezTo>
                <a:cubicBezTo>
                  <a:pt x="50" y="51"/>
                  <a:pt x="50" y="51"/>
                  <a:pt x="50" y="51"/>
                </a:cubicBezTo>
                <a:cubicBezTo>
                  <a:pt x="5" y="51"/>
                  <a:pt x="5" y="51"/>
                  <a:pt x="5" y="51"/>
                </a:cubicBezTo>
                <a:cubicBezTo>
                  <a:pt x="5" y="26"/>
                  <a:pt x="5" y="26"/>
                  <a:pt x="5" y="26"/>
                </a:cubicBezTo>
                <a:close/>
                <a:moveTo>
                  <a:pt x="67" y="93"/>
                </a:moveTo>
                <a:cubicBezTo>
                  <a:pt x="102" y="93"/>
                  <a:pt x="102" y="93"/>
                  <a:pt x="102" y="93"/>
                </a:cubicBezTo>
                <a:cubicBezTo>
                  <a:pt x="102" y="107"/>
                  <a:pt x="102" y="107"/>
                  <a:pt x="102" y="107"/>
                </a:cubicBezTo>
                <a:cubicBezTo>
                  <a:pt x="67" y="107"/>
                  <a:pt x="67" y="107"/>
                  <a:pt x="67" y="107"/>
                </a:cubicBezTo>
                <a:cubicBezTo>
                  <a:pt x="67" y="93"/>
                  <a:pt x="67" y="93"/>
                  <a:pt x="67" y="93"/>
                </a:cubicBezTo>
                <a:close/>
                <a:moveTo>
                  <a:pt x="81" y="75"/>
                </a:moveTo>
                <a:cubicBezTo>
                  <a:pt x="81" y="83"/>
                  <a:pt x="81" y="83"/>
                  <a:pt x="81" y="83"/>
                </a:cubicBezTo>
                <a:cubicBezTo>
                  <a:pt x="78" y="83"/>
                  <a:pt x="78" y="83"/>
                  <a:pt x="78" y="83"/>
                </a:cubicBezTo>
                <a:cubicBezTo>
                  <a:pt x="85" y="91"/>
                  <a:pt x="85" y="91"/>
                  <a:pt x="85" y="91"/>
                </a:cubicBezTo>
                <a:cubicBezTo>
                  <a:pt x="91" y="83"/>
                  <a:pt x="91" y="83"/>
                  <a:pt x="91" y="83"/>
                </a:cubicBezTo>
                <a:cubicBezTo>
                  <a:pt x="88" y="83"/>
                  <a:pt x="88" y="83"/>
                  <a:pt x="88" y="83"/>
                </a:cubicBezTo>
                <a:cubicBezTo>
                  <a:pt x="88" y="75"/>
                  <a:pt x="88" y="75"/>
                  <a:pt x="88" y="75"/>
                </a:cubicBezTo>
                <a:cubicBezTo>
                  <a:pt x="81" y="75"/>
                  <a:pt x="81" y="75"/>
                  <a:pt x="81" y="75"/>
                </a:cubicBezTo>
                <a:close/>
                <a:moveTo>
                  <a:pt x="0" y="73"/>
                </a:moveTo>
                <a:cubicBezTo>
                  <a:pt x="55" y="73"/>
                  <a:pt x="55" y="73"/>
                  <a:pt x="55" y="73"/>
                </a:cubicBezTo>
                <a:cubicBezTo>
                  <a:pt x="55" y="107"/>
                  <a:pt x="55" y="107"/>
                  <a:pt x="55" y="107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73"/>
                  <a:pt x="0" y="73"/>
                  <a:pt x="0" y="73"/>
                </a:cubicBezTo>
                <a:close/>
                <a:moveTo>
                  <a:pt x="83" y="48"/>
                </a:moveTo>
                <a:cubicBezTo>
                  <a:pt x="94" y="48"/>
                  <a:pt x="104" y="54"/>
                  <a:pt x="104" y="60"/>
                </a:cubicBezTo>
                <a:cubicBezTo>
                  <a:pt x="104" y="67"/>
                  <a:pt x="94" y="72"/>
                  <a:pt x="83" y="72"/>
                </a:cubicBezTo>
                <a:cubicBezTo>
                  <a:pt x="71" y="72"/>
                  <a:pt x="62" y="67"/>
                  <a:pt x="62" y="60"/>
                </a:cubicBezTo>
                <a:cubicBezTo>
                  <a:pt x="62" y="54"/>
                  <a:pt x="71" y="48"/>
                  <a:pt x="83" y="48"/>
                </a:cubicBezTo>
                <a:close/>
                <a:moveTo>
                  <a:pt x="52" y="42"/>
                </a:moveTo>
                <a:cubicBezTo>
                  <a:pt x="59" y="46"/>
                  <a:pt x="59" y="46"/>
                  <a:pt x="59" y="46"/>
                </a:cubicBezTo>
                <a:cubicBezTo>
                  <a:pt x="57" y="49"/>
                  <a:pt x="57" y="49"/>
                  <a:pt x="57" y="49"/>
                </a:cubicBezTo>
                <a:cubicBezTo>
                  <a:pt x="68" y="48"/>
                  <a:pt x="68" y="48"/>
                  <a:pt x="68" y="48"/>
                </a:cubicBezTo>
                <a:cubicBezTo>
                  <a:pt x="65" y="38"/>
                  <a:pt x="65" y="38"/>
                  <a:pt x="65" y="38"/>
                </a:cubicBezTo>
                <a:cubicBezTo>
                  <a:pt x="63" y="41"/>
                  <a:pt x="63" y="41"/>
                  <a:pt x="63" y="41"/>
                </a:cubicBezTo>
                <a:cubicBezTo>
                  <a:pt x="56" y="36"/>
                  <a:pt x="56" y="36"/>
                  <a:pt x="56" y="36"/>
                </a:cubicBezTo>
                <a:cubicBezTo>
                  <a:pt x="52" y="42"/>
                  <a:pt x="52" y="42"/>
                  <a:pt x="52" y="42"/>
                </a:cubicBezTo>
                <a:close/>
                <a:moveTo>
                  <a:pt x="37" y="13"/>
                </a:moveTo>
                <a:cubicBezTo>
                  <a:pt x="37" y="20"/>
                  <a:pt x="37" y="20"/>
                  <a:pt x="37" y="20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0"/>
                  <a:pt x="33" y="0"/>
                  <a:pt x="33" y="0"/>
                </a:cubicBezTo>
                <a:cubicBezTo>
                  <a:pt x="38" y="0"/>
                  <a:pt x="38" y="0"/>
                  <a:pt x="38" y="0"/>
                </a:cubicBezTo>
                <a:cubicBezTo>
                  <a:pt x="39" y="0"/>
                  <a:pt x="41" y="0"/>
                  <a:pt x="42" y="1"/>
                </a:cubicBezTo>
                <a:cubicBezTo>
                  <a:pt x="43" y="1"/>
                  <a:pt x="43" y="2"/>
                  <a:pt x="43" y="3"/>
                </a:cubicBezTo>
                <a:cubicBezTo>
                  <a:pt x="43" y="9"/>
                  <a:pt x="43" y="9"/>
                  <a:pt x="43" y="9"/>
                </a:cubicBezTo>
                <a:cubicBezTo>
                  <a:pt x="43" y="10"/>
                  <a:pt x="43" y="11"/>
                  <a:pt x="42" y="12"/>
                </a:cubicBezTo>
                <a:cubicBezTo>
                  <a:pt x="41" y="13"/>
                  <a:pt x="40" y="13"/>
                  <a:pt x="37" y="13"/>
                </a:cubicBezTo>
                <a:close/>
                <a:moveTo>
                  <a:pt x="39" y="9"/>
                </a:moveTo>
                <a:cubicBezTo>
                  <a:pt x="39" y="4"/>
                  <a:pt x="39" y="4"/>
                  <a:pt x="39" y="4"/>
                </a:cubicBezTo>
                <a:cubicBezTo>
                  <a:pt x="39" y="3"/>
                  <a:pt x="38" y="3"/>
                  <a:pt x="37" y="3"/>
                </a:cubicBezTo>
                <a:cubicBezTo>
                  <a:pt x="37" y="10"/>
                  <a:pt x="37" y="10"/>
                  <a:pt x="37" y="10"/>
                </a:cubicBezTo>
                <a:cubicBezTo>
                  <a:pt x="38" y="10"/>
                  <a:pt x="39" y="9"/>
                  <a:pt x="39" y="9"/>
                </a:cubicBezTo>
                <a:close/>
                <a:moveTo>
                  <a:pt x="48" y="20"/>
                </a:moveTo>
                <a:cubicBezTo>
                  <a:pt x="44" y="20"/>
                  <a:pt x="44" y="20"/>
                  <a:pt x="44" y="20"/>
                </a:cubicBezTo>
                <a:cubicBezTo>
                  <a:pt x="44" y="0"/>
                  <a:pt x="44" y="0"/>
                  <a:pt x="44" y="0"/>
                </a:cubicBezTo>
                <a:cubicBezTo>
                  <a:pt x="48" y="0"/>
                  <a:pt x="48" y="0"/>
                  <a:pt x="48" y="0"/>
                </a:cubicBezTo>
                <a:cubicBezTo>
                  <a:pt x="48" y="20"/>
                  <a:pt x="48" y="20"/>
                  <a:pt x="48" y="20"/>
                </a:cubicBezTo>
                <a:close/>
                <a:moveTo>
                  <a:pt x="59" y="20"/>
                </a:moveTo>
                <a:cubicBezTo>
                  <a:pt x="55" y="20"/>
                  <a:pt x="55" y="20"/>
                  <a:pt x="55" y="20"/>
                </a:cubicBezTo>
                <a:cubicBezTo>
                  <a:pt x="55" y="20"/>
                  <a:pt x="55" y="20"/>
                  <a:pt x="55" y="20"/>
                </a:cubicBezTo>
                <a:cubicBezTo>
                  <a:pt x="55" y="20"/>
                  <a:pt x="54" y="21"/>
                  <a:pt x="52" y="21"/>
                </a:cubicBezTo>
                <a:cubicBezTo>
                  <a:pt x="50" y="21"/>
                  <a:pt x="49" y="20"/>
                  <a:pt x="49" y="18"/>
                </a:cubicBezTo>
                <a:cubicBezTo>
                  <a:pt x="49" y="15"/>
                  <a:pt x="49" y="15"/>
                  <a:pt x="49" y="15"/>
                </a:cubicBezTo>
                <a:cubicBezTo>
                  <a:pt x="49" y="14"/>
                  <a:pt x="49" y="13"/>
                  <a:pt x="50" y="13"/>
                </a:cubicBezTo>
                <a:cubicBezTo>
                  <a:pt x="50" y="12"/>
                  <a:pt x="51" y="11"/>
                  <a:pt x="53" y="11"/>
                </a:cubicBezTo>
                <a:cubicBezTo>
                  <a:pt x="54" y="10"/>
                  <a:pt x="54" y="10"/>
                  <a:pt x="54" y="9"/>
                </a:cubicBezTo>
                <a:cubicBezTo>
                  <a:pt x="54" y="7"/>
                  <a:pt x="54" y="7"/>
                  <a:pt x="54" y="7"/>
                </a:cubicBezTo>
                <a:cubicBezTo>
                  <a:pt x="54" y="6"/>
                  <a:pt x="54" y="6"/>
                  <a:pt x="54" y="6"/>
                </a:cubicBezTo>
                <a:cubicBezTo>
                  <a:pt x="53" y="6"/>
                  <a:pt x="53" y="7"/>
                  <a:pt x="53" y="8"/>
                </a:cubicBezTo>
                <a:cubicBezTo>
                  <a:pt x="53" y="8"/>
                  <a:pt x="53" y="9"/>
                  <a:pt x="53" y="9"/>
                </a:cubicBezTo>
                <a:cubicBezTo>
                  <a:pt x="53" y="10"/>
                  <a:pt x="53" y="10"/>
                  <a:pt x="53" y="10"/>
                </a:cubicBezTo>
                <a:cubicBezTo>
                  <a:pt x="49" y="10"/>
                  <a:pt x="49" y="10"/>
                  <a:pt x="49" y="10"/>
                </a:cubicBezTo>
                <a:cubicBezTo>
                  <a:pt x="49" y="7"/>
                  <a:pt x="49" y="7"/>
                  <a:pt x="49" y="7"/>
                </a:cubicBezTo>
                <a:cubicBezTo>
                  <a:pt x="49" y="5"/>
                  <a:pt x="51" y="4"/>
                  <a:pt x="54" y="4"/>
                </a:cubicBezTo>
                <a:cubicBezTo>
                  <a:pt x="57" y="4"/>
                  <a:pt x="59" y="5"/>
                  <a:pt x="59" y="7"/>
                </a:cubicBezTo>
                <a:cubicBezTo>
                  <a:pt x="59" y="20"/>
                  <a:pt x="59" y="20"/>
                  <a:pt x="59" y="20"/>
                </a:cubicBezTo>
                <a:close/>
                <a:moveTo>
                  <a:pt x="54" y="17"/>
                </a:moveTo>
                <a:cubicBezTo>
                  <a:pt x="54" y="13"/>
                  <a:pt x="54" y="13"/>
                  <a:pt x="54" y="13"/>
                </a:cubicBezTo>
                <a:cubicBezTo>
                  <a:pt x="54" y="13"/>
                  <a:pt x="53" y="14"/>
                  <a:pt x="53" y="14"/>
                </a:cubicBezTo>
                <a:cubicBezTo>
                  <a:pt x="53" y="17"/>
                  <a:pt x="53" y="17"/>
                  <a:pt x="53" y="17"/>
                </a:cubicBezTo>
                <a:cubicBezTo>
                  <a:pt x="53" y="18"/>
                  <a:pt x="53" y="18"/>
                  <a:pt x="54" y="18"/>
                </a:cubicBezTo>
                <a:cubicBezTo>
                  <a:pt x="54" y="18"/>
                  <a:pt x="54" y="18"/>
                  <a:pt x="54" y="17"/>
                </a:cubicBezTo>
                <a:close/>
                <a:moveTo>
                  <a:pt x="69" y="20"/>
                </a:moveTo>
                <a:cubicBezTo>
                  <a:pt x="65" y="20"/>
                  <a:pt x="65" y="20"/>
                  <a:pt x="65" y="20"/>
                </a:cubicBezTo>
                <a:cubicBezTo>
                  <a:pt x="65" y="7"/>
                  <a:pt x="65" y="7"/>
                  <a:pt x="65" y="7"/>
                </a:cubicBezTo>
                <a:cubicBezTo>
                  <a:pt x="65" y="6"/>
                  <a:pt x="65" y="6"/>
                  <a:pt x="64" y="6"/>
                </a:cubicBezTo>
                <a:cubicBezTo>
                  <a:pt x="64" y="6"/>
                  <a:pt x="64" y="6"/>
                  <a:pt x="64" y="7"/>
                </a:cubicBezTo>
                <a:cubicBezTo>
                  <a:pt x="64" y="20"/>
                  <a:pt x="64" y="20"/>
                  <a:pt x="64" y="20"/>
                </a:cubicBezTo>
                <a:cubicBezTo>
                  <a:pt x="59" y="20"/>
                  <a:pt x="59" y="20"/>
                  <a:pt x="59" y="20"/>
                </a:cubicBezTo>
                <a:cubicBezTo>
                  <a:pt x="59" y="4"/>
                  <a:pt x="59" y="4"/>
                  <a:pt x="59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4"/>
                  <a:pt x="65" y="4"/>
                  <a:pt x="66" y="4"/>
                </a:cubicBezTo>
                <a:cubicBezTo>
                  <a:pt x="67" y="4"/>
                  <a:pt x="67" y="4"/>
                  <a:pt x="68" y="4"/>
                </a:cubicBezTo>
                <a:cubicBezTo>
                  <a:pt x="69" y="5"/>
                  <a:pt x="69" y="5"/>
                  <a:pt x="69" y="6"/>
                </a:cubicBezTo>
                <a:cubicBezTo>
                  <a:pt x="69" y="20"/>
                  <a:pt x="69" y="20"/>
                  <a:pt x="69" y="20"/>
                </a:cubicBezTo>
                <a:close/>
                <a:moveTo>
                  <a:pt x="24" y="55"/>
                </a:moveTo>
                <a:cubicBezTo>
                  <a:pt x="24" y="63"/>
                  <a:pt x="24" y="63"/>
                  <a:pt x="24" y="63"/>
                </a:cubicBezTo>
                <a:cubicBezTo>
                  <a:pt x="21" y="63"/>
                  <a:pt x="21" y="63"/>
                  <a:pt x="21" y="63"/>
                </a:cubicBezTo>
                <a:cubicBezTo>
                  <a:pt x="28" y="71"/>
                  <a:pt x="28" y="71"/>
                  <a:pt x="28" y="71"/>
                </a:cubicBezTo>
                <a:cubicBezTo>
                  <a:pt x="34" y="63"/>
                  <a:pt x="34" y="63"/>
                  <a:pt x="34" y="63"/>
                </a:cubicBezTo>
                <a:cubicBezTo>
                  <a:pt x="31" y="63"/>
                  <a:pt x="31" y="63"/>
                  <a:pt x="31" y="63"/>
                </a:cubicBezTo>
                <a:cubicBezTo>
                  <a:pt x="31" y="55"/>
                  <a:pt x="31" y="55"/>
                  <a:pt x="31" y="55"/>
                </a:cubicBezTo>
                <a:lnTo>
                  <a:pt x="24" y="5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9" name="右箭头 13">
            <a:extLst>
              <a:ext uri="{FF2B5EF4-FFF2-40B4-BE49-F238E27FC236}">
                <a16:creationId xmlns:a16="http://schemas.microsoft.com/office/drawing/2014/main" id="{1EF627B0-9362-EACE-093C-8FF57698143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 rot="5400000">
            <a:off x="3415119" y="4622046"/>
            <a:ext cx="645233" cy="633730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0" name="右箭头 13">
            <a:extLst>
              <a:ext uri="{FF2B5EF4-FFF2-40B4-BE49-F238E27FC236}">
                <a16:creationId xmlns:a16="http://schemas.microsoft.com/office/drawing/2014/main" id="{9D7C2F4A-94E2-5FBA-6C4B-6D90588C1EF1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615367" y="5337042"/>
            <a:ext cx="645233" cy="633730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sp>
        <p:nvSpPr>
          <p:cNvPr id="41" name="右箭头 13">
            <a:extLst>
              <a:ext uri="{FF2B5EF4-FFF2-40B4-BE49-F238E27FC236}">
                <a16:creationId xmlns:a16="http://schemas.microsoft.com/office/drawing/2014/main" id="{79813C1C-DC2C-C5A9-8941-4BD584E3C08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10800000">
            <a:off x="5615367" y="3919199"/>
            <a:ext cx="645233" cy="633730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D4CDCB35-F466-4CCC-41A8-BCC8796F203B}"/>
              </a:ext>
            </a:extLst>
          </p:cNvPr>
          <p:cNvGrpSpPr/>
          <p:nvPr/>
        </p:nvGrpSpPr>
        <p:grpSpPr>
          <a:xfrm>
            <a:off x="6707268" y="3736970"/>
            <a:ext cx="2790398" cy="834238"/>
            <a:chOff x="1658307" y="1945554"/>
            <a:chExt cx="3940708" cy="645054"/>
          </a:xfrm>
        </p:grpSpPr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C4E3413A-DF9D-8D9B-7D02-2704D594831E}"/>
                </a:ext>
              </a:extLst>
            </p:cNvPr>
            <p:cNvGrpSpPr/>
            <p:nvPr/>
          </p:nvGrpSpPr>
          <p:grpSpPr>
            <a:xfrm>
              <a:off x="1658307" y="1945554"/>
              <a:ext cx="3940708" cy="645054"/>
              <a:chOff x="-1136" y="1936"/>
              <a:chExt cx="8399" cy="1152"/>
            </a:xfrm>
          </p:grpSpPr>
          <p:sp>
            <p:nvSpPr>
              <p:cNvPr id="58" name="六边形 57">
                <a:extLst>
                  <a:ext uri="{FF2B5EF4-FFF2-40B4-BE49-F238E27FC236}">
                    <a16:creationId xmlns:a16="http://schemas.microsoft.com/office/drawing/2014/main" id="{B90B334E-148B-B63E-E411-C897627334C4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-930" y="2197"/>
                <a:ext cx="8193" cy="891"/>
              </a:xfrm>
              <a:prstGeom prst="hexagon">
                <a:avLst>
                  <a:gd name="adj" fmla="val 48077"/>
                  <a:gd name="vf" fmla="val 115470"/>
                </a:avLst>
              </a:prstGeom>
              <a:noFill/>
              <a:ln w="12700" cap="flat" cmpd="sng" algn="ctr">
                <a:gradFill>
                  <a:gsLst>
                    <a:gs pos="33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75000"/>
                      </a:schemeClr>
                    </a:gs>
                  </a:gsLst>
                  <a:lin ang="2700000" scaled="1"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1219200">
                  <a:defRPr/>
                </a:pPr>
                <a:endParaRPr lang="zh-CN" altLang="en-US" sz="2400" kern="0">
                  <a:solidFill>
                    <a:prstClr val="white"/>
                  </a:solidFill>
                  <a:latin typeface="等线" panose="02010600030101010101" charset="-122"/>
                  <a:ea typeface="等线" panose="02010600030101010101" charset="-122"/>
                </a:endParaRPr>
              </a:p>
            </p:txBody>
          </p:sp>
          <p:sp>
            <p:nvSpPr>
              <p:cNvPr id="59" name="六边形 58">
                <a:extLst>
                  <a:ext uri="{FF2B5EF4-FFF2-40B4-BE49-F238E27FC236}">
                    <a16:creationId xmlns:a16="http://schemas.microsoft.com/office/drawing/2014/main" id="{7B3BEA7B-50B0-3AE6-83AF-AD303D9D0DF0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-1136" y="2081"/>
                <a:ext cx="8124" cy="883"/>
              </a:xfrm>
              <a:prstGeom prst="hexagon">
                <a:avLst>
                  <a:gd name="adj" fmla="val 48077"/>
                  <a:gd name="vf" fmla="val 115470"/>
                </a:avLst>
              </a:prstGeom>
              <a:solidFill>
                <a:srgbClr val="E96978"/>
              </a:solidFill>
              <a:ln w="12700" cap="flat" cmpd="sng" algn="ctr">
                <a:noFill/>
                <a:prstDash val="solid"/>
                <a:miter lim="800000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noAutofit/>
              </a:bodyPr>
              <a:lstStyle/>
              <a:p>
                <a:pPr algn="ctr" defTabSz="1219200">
                  <a:defRPr/>
                </a:pPr>
                <a:endParaRPr lang="zh-CN" altLang="en-US" sz="2400" kern="0" dirty="0">
                  <a:gradFill>
                    <a:gsLst>
                      <a:gs pos="69000">
                        <a:srgbClr val="5D3860"/>
                      </a:gs>
                      <a:gs pos="0">
                        <a:srgbClr val="0070C0"/>
                      </a:gs>
                      <a:gs pos="100000">
                        <a:srgbClr val="B40000">
                          <a:lumMod val="97000"/>
                        </a:srgbClr>
                      </a:gs>
                    </a:gsLst>
                    <a:lin ang="4200000" scaled="0"/>
                  </a:gradFill>
                  <a:latin typeface="等线" panose="02010600030101010101" charset="-122"/>
                  <a:ea typeface="等线" panose="02010600030101010101" charset="-122"/>
                  <a:sym typeface="+mn-ea"/>
                </a:endParaRPr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56E1F31B-A755-41B4-618B-BA8B809FE59B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-788" y="1936"/>
                <a:ext cx="7656" cy="76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1219200">
                  <a:lnSpc>
                    <a:spcPct val="130000"/>
                  </a:lnSpc>
                  <a:defRPr/>
                </a:pPr>
                <a:endParaRPr lang="zh-CN" altLang="en-US" sz="2665" b="1" kern="0" dirty="0">
                  <a:gradFill>
                    <a:gsLst>
                      <a:gs pos="0">
                        <a:srgbClr val="ECF7F1"/>
                      </a:gs>
                      <a:gs pos="100000">
                        <a:srgbClr val="F6E3BB"/>
                      </a:gs>
                    </a:gsLst>
                    <a:lin ang="5400000" scaled="0"/>
                  </a:gradFill>
                  <a:effectLst>
                    <a:outerShdw blurRad="114300" dist="114300" dir="5400000" sx="99000" sy="99000" algn="t" rotWithShape="0">
                      <a:prstClr val="black">
                        <a:alpha val="17000"/>
                      </a:prstClr>
                    </a:outerShdw>
                  </a:effectLst>
                  <a:ea typeface="微软雅黑" panose="020B0503020204020204" charset="-122"/>
                  <a:sym typeface="逐浪帅宋斜楷体" panose="03000509000000000000" charset="-122"/>
                </a:endParaRPr>
              </a:p>
            </p:txBody>
          </p:sp>
        </p:grp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7F051736-7936-BD3C-9500-C7541E389F10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2637661" y="2067779"/>
              <a:ext cx="2775967" cy="4047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</a:lstStyle>
            <a:p>
              <a:pPr lvl="0" algn="ctr" defTabSz="1219200">
                <a:buClrTx/>
                <a:buSzTx/>
                <a:buFontTx/>
                <a:defRPr/>
              </a:pPr>
              <a:r>
                <a:rPr lang="zh-CN" altLang="en-US" sz="2800" b="1" kern="0" dirty="0">
                  <a:gradFill>
                    <a:gsLst>
                      <a:gs pos="0">
                        <a:srgbClr val="ECF7F1"/>
                      </a:gs>
                      <a:gs pos="100000">
                        <a:srgbClr val="F6E3BB"/>
                      </a:gs>
                    </a:gsLst>
                    <a:lin ang="5400000" scaled="0"/>
                  </a:gradFill>
                  <a:effectLst>
                    <a:outerShdw blurRad="114300" dist="114300" dir="5400000" sx="99000" sy="99000" algn="t" rotWithShape="0">
                      <a:prstClr val="black">
                        <a:alpha val="17000"/>
                      </a:prstClr>
                    </a:outerShdw>
                  </a:effectLst>
                  <a:ea typeface="微软雅黑" panose="020B0503020204020204" charset="-122"/>
                  <a:sym typeface="+mn-ea"/>
                </a:rPr>
                <a:t>保障</a:t>
              </a:r>
            </a:p>
          </p:txBody>
        </p:sp>
      </p:grpSp>
      <p:sp>
        <p:nvSpPr>
          <p:cNvPr id="62" name="右箭头 13">
            <a:extLst>
              <a:ext uri="{FF2B5EF4-FFF2-40B4-BE49-F238E27FC236}">
                <a16:creationId xmlns:a16="http://schemas.microsoft.com/office/drawing/2014/main" id="{8EE4F6CA-A0B8-38E6-5222-9F19BAA4D9A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 rot="16200000">
            <a:off x="7772043" y="4604468"/>
            <a:ext cx="645233" cy="633730"/>
          </a:xfrm>
          <a:prstGeom prst="rightArrow">
            <a:avLst/>
          </a:prstGeom>
          <a:gradFill>
            <a:gsLst>
              <a:gs pos="0">
                <a:schemeClr val="bg1"/>
              </a:gs>
              <a:gs pos="100000">
                <a:schemeClr val="accent6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</a:endParaRPr>
          </a:p>
        </p:txBody>
      </p:sp>
      <p:pic>
        <p:nvPicPr>
          <p:cNvPr id="66" name="图形 65">
            <a:extLst>
              <a:ext uri="{FF2B5EF4-FFF2-40B4-BE49-F238E27FC236}">
                <a16:creationId xmlns:a16="http://schemas.microsoft.com/office/drawing/2014/main" id="{3E291744-EEA9-D396-2E9B-8E475501B667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072198" y="3873442"/>
            <a:ext cx="562737" cy="5627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5"/>
          <p:cNvSpPr>
            <a:spLocks noChangeArrowheads="1"/>
          </p:cNvSpPr>
          <p:nvPr/>
        </p:nvSpPr>
        <p:spPr bwMode="auto">
          <a:xfrm>
            <a:off x="343561" y="306249"/>
            <a:ext cx="8266998" cy="7439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筑牢理想信念，炼铸红色青春</a:t>
            </a:r>
          </a:p>
        </p:txBody>
      </p:sp>
      <p:sp>
        <p:nvSpPr>
          <p:cNvPr id="61" name="矩形 60"/>
          <p:cNvSpPr/>
          <p:nvPr/>
        </p:nvSpPr>
        <p:spPr>
          <a:xfrm flipH="1">
            <a:off x="660399" y="1362423"/>
            <a:ext cx="10879665" cy="4042277"/>
          </a:xfrm>
          <a:prstGeom prst="rect">
            <a:avLst/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noFill/>
          </a:ln>
          <a:effectLst>
            <a:glow rad="127000">
              <a:schemeClr val="accent1">
                <a:lumMod val="20000"/>
                <a:lumOff val="80000"/>
              </a:schemeClr>
            </a:glow>
            <a:outerShdw blurRad="254000" dist="381000" dir="5400000" sx="97000" sy="97000" algn="tl" rotWithShape="0">
              <a:schemeClr val="accent1">
                <a:lumMod val="60000"/>
                <a:lumOff val="40000"/>
                <a:alpha val="20000"/>
              </a:scheme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98315" y="5764642"/>
            <a:ext cx="10595370" cy="920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参与协助和组织学院公众号上半学年新闻稿整理，整理学院组织的各项活动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次</a:t>
            </a: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，提炼要点，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保证学院公众号新闻稿按时保质产出，协助其他部门整理“美好假期”相关活动，完善宣传</a:t>
            </a:r>
            <a:r>
              <a:rPr lang="en-US" altLang="zh-CN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PPT</a:t>
            </a:r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。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" y="201295"/>
            <a:ext cx="12184380" cy="5791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5"/>
          <p:cNvSpPr>
            <a:spLocks noChangeArrowheads="1"/>
          </p:cNvSpPr>
          <p:nvPr/>
        </p:nvSpPr>
        <p:spPr bwMode="auto">
          <a:xfrm>
            <a:off x="343561" y="63813"/>
            <a:ext cx="8484778" cy="662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信息整合提质：整理活动信息，传播活动成果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234" y="841896"/>
            <a:ext cx="4185761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信息整合提质，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加强活动</a:t>
            </a:r>
            <a:r>
              <a:rPr lang="zh-CN" altLang="en-US" sz="19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宣传建设</a:t>
            </a:r>
            <a:endParaRPr kumimoji="0" lang="zh-CN" altLang="en-US" sz="19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9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60399" y="5640886"/>
            <a:ext cx="10879667" cy="1168087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: 圆角 10"/>
          <p:cNvSpPr/>
          <p:nvPr/>
        </p:nvSpPr>
        <p:spPr>
          <a:xfrm>
            <a:off x="6632575" y="4994910"/>
            <a:ext cx="4892040" cy="403225"/>
          </a:xfrm>
          <a:custGeom>
            <a:avLst/>
            <a:gdLst>
              <a:gd name="connsiteX0" fmla="*/ 0 w 2212143"/>
              <a:gd name="connsiteY0" fmla="*/ 47626 h 285753"/>
              <a:gd name="connsiteX1" fmla="*/ 47626 w 2212143"/>
              <a:gd name="connsiteY1" fmla="*/ 0 h 285753"/>
              <a:gd name="connsiteX2" fmla="*/ 2164517 w 2212143"/>
              <a:gd name="connsiteY2" fmla="*/ 0 h 285753"/>
              <a:gd name="connsiteX3" fmla="*/ 2212143 w 2212143"/>
              <a:gd name="connsiteY3" fmla="*/ 47626 h 285753"/>
              <a:gd name="connsiteX4" fmla="*/ 2212143 w 2212143"/>
              <a:gd name="connsiteY4" fmla="*/ 238127 h 285753"/>
              <a:gd name="connsiteX5" fmla="*/ 2164517 w 2212143"/>
              <a:gd name="connsiteY5" fmla="*/ 285753 h 285753"/>
              <a:gd name="connsiteX6" fmla="*/ 47626 w 2212143"/>
              <a:gd name="connsiteY6" fmla="*/ 285753 h 285753"/>
              <a:gd name="connsiteX7" fmla="*/ 0 w 2212143"/>
              <a:gd name="connsiteY7" fmla="*/ 238127 h 285753"/>
              <a:gd name="connsiteX8" fmla="*/ 0 w 2212143"/>
              <a:gd name="connsiteY8" fmla="*/ 47626 h 285753"/>
              <a:gd name="connsiteX0-1" fmla="*/ 916 w 2213059"/>
              <a:gd name="connsiteY0-2" fmla="*/ 50007 h 288134"/>
              <a:gd name="connsiteX1-3" fmla="*/ 19967 w 2213059"/>
              <a:gd name="connsiteY1-4" fmla="*/ 0 h 288134"/>
              <a:gd name="connsiteX2-5" fmla="*/ 2165433 w 2213059"/>
              <a:gd name="connsiteY2-6" fmla="*/ 2381 h 288134"/>
              <a:gd name="connsiteX3-7" fmla="*/ 2213059 w 2213059"/>
              <a:gd name="connsiteY3-8" fmla="*/ 50007 h 288134"/>
              <a:gd name="connsiteX4-9" fmla="*/ 2213059 w 2213059"/>
              <a:gd name="connsiteY4-10" fmla="*/ 240508 h 288134"/>
              <a:gd name="connsiteX5-11" fmla="*/ 2165433 w 2213059"/>
              <a:gd name="connsiteY5-12" fmla="*/ 288134 h 288134"/>
              <a:gd name="connsiteX6-13" fmla="*/ 48542 w 2213059"/>
              <a:gd name="connsiteY6-14" fmla="*/ 288134 h 288134"/>
              <a:gd name="connsiteX7-15" fmla="*/ 916 w 2213059"/>
              <a:gd name="connsiteY7-16" fmla="*/ 240508 h 288134"/>
              <a:gd name="connsiteX8-17" fmla="*/ 916 w 2213059"/>
              <a:gd name="connsiteY8-18" fmla="*/ 50007 h 288134"/>
              <a:gd name="connsiteX0-19" fmla="*/ 916 w 2214780"/>
              <a:gd name="connsiteY0-20" fmla="*/ 50007 h 288134"/>
              <a:gd name="connsiteX1-21" fmla="*/ 19967 w 2214780"/>
              <a:gd name="connsiteY1-22" fmla="*/ 0 h 288134"/>
              <a:gd name="connsiteX2-23" fmla="*/ 2196389 w 2214780"/>
              <a:gd name="connsiteY2-24" fmla="*/ 4762 h 288134"/>
              <a:gd name="connsiteX3-25" fmla="*/ 2213059 w 2214780"/>
              <a:gd name="connsiteY3-26" fmla="*/ 50007 h 288134"/>
              <a:gd name="connsiteX4-27" fmla="*/ 2213059 w 2214780"/>
              <a:gd name="connsiteY4-28" fmla="*/ 240508 h 288134"/>
              <a:gd name="connsiteX5-29" fmla="*/ 2165433 w 2214780"/>
              <a:gd name="connsiteY5-30" fmla="*/ 288134 h 288134"/>
              <a:gd name="connsiteX6-31" fmla="*/ 48542 w 2214780"/>
              <a:gd name="connsiteY6-32" fmla="*/ 288134 h 288134"/>
              <a:gd name="connsiteX7-33" fmla="*/ 916 w 2214780"/>
              <a:gd name="connsiteY7-34" fmla="*/ 240508 h 288134"/>
              <a:gd name="connsiteX8-35" fmla="*/ 916 w 2214780"/>
              <a:gd name="connsiteY8-36" fmla="*/ 50007 h 2881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14780" h="288134">
                <a:moveTo>
                  <a:pt x="916" y="50007"/>
                </a:moveTo>
                <a:cubicBezTo>
                  <a:pt x="916" y="23704"/>
                  <a:pt x="-6336" y="0"/>
                  <a:pt x="19967" y="0"/>
                </a:cubicBezTo>
                <a:lnTo>
                  <a:pt x="2196389" y="4762"/>
                </a:lnTo>
                <a:cubicBezTo>
                  <a:pt x="2222692" y="4762"/>
                  <a:pt x="2213059" y="23704"/>
                  <a:pt x="2213059" y="50007"/>
                </a:cubicBezTo>
                <a:lnTo>
                  <a:pt x="2213059" y="240508"/>
                </a:lnTo>
                <a:cubicBezTo>
                  <a:pt x="2213059" y="266811"/>
                  <a:pt x="2191736" y="288134"/>
                  <a:pt x="2165433" y="288134"/>
                </a:cubicBezTo>
                <a:lnTo>
                  <a:pt x="48542" y="288134"/>
                </a:lnTo>
                <a:cubicBezTo>
                  <a:pt x="22239" y="288134"/>
                  <a:pt x="916" y="266811"/>
                  <a:pt x="916" y="240508"/>
                </a:cubicBezTo>
                <a:lnTo>
                  <a:pt x="916" y="5000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gradFill>
                  <a:gsLst>
                    <a:gs pos="0">
                      <a:srgbClr val="ECF7F1"/>
                    </a:gs>
                    <a:gs pos="100000">
                      <a:srgbClr val="F6E3BB"/>
                    </a:gs>
                  </a:gsLst>
                  <a:lin ang="5400000" scaled="0"/>
                </a:gradFill>
                <a:effectLst>
                  <a:outerShdw blurRad="114300" dist="114300" dir="5400000" sx="99000" sy="99000" algn="t" rotWithShape="0">
                    <a:prstClr val="black">
                      <a:alpha val="17000"/>
                    </a:prstClr>
                  </a:outerShdw>
                </a:effectLst>
                <a:latin typeface="等线" panose="02010600030101010101" charset="-122"/>
                <a:ea typeface="微软雅黑" panose="020B0503020204020204" charset="-122"/>
                <a:sym typeface="+mn-ea"/>
              </a:rPr>
              <a:t>协助其他部门整理历年“美好假期”活动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ECF7F1"/>
                  </a:gs>
                  <a:gs pos="100000">
                    <a:srgbClr val="F6E3BB"/>
                  </a:gs>
                </a:gsLst>
                <a:lin ang="5400000" scaled="0"/>
              </a:gradFill>
              <a:effectLst>
                <a:outerShdw blurRad="114300" dist="114300" dir="5400000" sx="99000" sy="99000" algn="t" rotWithShape="0">
                  <a:prstClr val="black">
                    <a:alpha val="17000"/>
                  </a:prstClr>
                </a:outerShdw>
              </a:effectLst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4" name="矩形: 圆角 10"/>
          <p:cNvSpPr/>
          <p:nvPr/>
        </p:nvSpPr>
        <p:spPr>
          <a:xfrm>
            <a:off x="762635" y="4990465"/>
            <a:ext cx="5555615" cy="403225"/>
          </a:xfrm>
          <a:custGeom>
            <a:avLst/>
            <a:gdLst>
              <a:gd name="connsiteX0" fmla="*/ 0 w 2212143"/>
              <a:gd name="connsiteY0" fmla="*/ 47626 h 285753"/>
              <a:gd name="connsiteX1" fmla="*/ 47626 w 2212143"/>
              <a:gd name="connsiteY1" fmla="*/ 0 h 285753"/>
              <a:gd name="connsiteX2" fmla="*/ 2164517 w 2212143"/>
              <a:gd name="connsiteY2" fmla="*/ 0 h 285753"/>
              <a:gd name="connsiteX3" fmla="*/ 2212143 w 2212143"/>
              <a:gd name="connsiteY3" fmla="*/ 47626 h 285753"/>
              <a:gd name="connsiteX4" fmla="*/ 2212143 w 2212143"/>
              <a:gd name="connsiteY4" fmla="*/ 238127 h 285753"/>
              <a:gd name="connsiteX5" fmla="*/ 2164517 w 2212143"/>
              <a:gd name="connsiteY5" fmla="*/ 285753 h 285753"/>
              <a:gd name="connsiteX6" fmla="*/ 47626 w 2212143"/>
              <a:gd name="connsiteY6" fmla="*/ 285753 h 285753"/>
              <a:gd name="connsiteX7" fmla="*/ 0 w 2212143"/>
              <a:gd name="connsiteY7" fmla="*/ 238127 h 285753"/>
              <a:gd name="connsiteX8" fmla="*/ 0 w 2212143"/>
              <a:gd name="connsiteY8" fmla="*/ 47626 h 285753"/>
              <a:gd name="connsiteX0-1" fmla="*/ 916 w 2213059"/>
              <a:gd name="connsiteY0-2" fmla="*/ 50007 h 288134"/>
              <a:gd name="connsiteX1-3" fmla="*/ 19967 w 2213059"/>
              <a:gd name="connsiteY1-4" fmla="*/ 0 h 288134"/>
              <a:gd name="connsiteX2-5" fmla="*/ 2165433 w 2213059"/>
              <a:gd name="connsiteY2-6" fmla="*/ 2381 h 288134"/>
              <a:gd name="connsiteX3-7" fmla="*/ 2213059 w 2213059"/>
              <a:gd name="connsiteY3-8" fmla="*/ 50007 h 288134"/>
              <a:gd name="connsiteX4-9" fmla="*/ 2213059 w 2213059"/>
              <a:gd name="connsiteY4-10" fmla="*/ 240508 h 288134"/>
              <a:gd name="connsiteX5-11" fmla="*/ 2165433 w 2213059"/>
              <a:gd name="connsiteY5-12" fmla="*/ 288134 h 288134"/>
              <a:gd name="connsiteX6-13" fmla="*/ 48542 w 2213059"/>
              <a:gd name="connsiteY6-14" fmla="*/ 288134 h 288134"/>
              <a:gd name="connsiteX7-15" fmla="*/ 916 w 2213059"/>
              <a:gd name="connsiteY7-16" fmla="*/ 240508 h 288134"/>
              <a:gd name="connsiteX8-17" fmla="*/ 916 w 2213059"/>
              <a:gd name="connsiteY8-18" fmla="*/ 50007 h 288134"/>
              <a:gd name="connsiteX0-19" fmla="*/ 916 w 2214780"/>
              <a:gd name="connsiteY0-20" fmla="*/ 50007 h 288134"/>
              <a:gd name="connsiteX1-21" fmla="*/ 19967 w 2214780"/>
              <a:gd name="connsiteY1-22" fmla="*/ 0 h 288134"/>
              <a:gd name="connsiteX2-23" fmla="*/ 2196389 w 2214780"/>
              <a:gd name="connsiteY2-24" fmla="*/ 4762 h 288134"/>
              <a:gd name="connsiteX3-25" fmla="*/ 2213059 w 2214780"/>
              <a:gd name="connsiteY3-26" fmla="*/ 50007 h 288134"/>
              <a:gd name="connsiteX4-27" fmla="*/ 2213059 w 2214780"/>
              <a:gd name="connsiteY4-28" fmla="*/ 240508 h 288134"/>
              <a:gd name="connsiteX5-29" fmla="*/ 2165433 w 2214780"/>
              <a:gd name="connsiteY5-30" fmla="*/ 288134 h 288134"/>
              <a:gd name="connsiteX6-31" fmla="*/ 48542 w 2214780"/>
              <a:gd name="connsiteY6-32" fmla="*/ 288134 h 288134"/>
              <a:gd name="connsiteX7-33" fmla="*/ 916 w 2214780"/>
              <a:gd name="connsiteY7-34" fmla="*/ 240508 h 288134"/>
              <a:gd name="connsiteX8-35" fmla="*/ 916 w 2214780"/>
              <a:gd name="connsiteY8-36" fmla="*/ 50007 h 2881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14780" h="288134">
                <a:moveTo>
                  <a:pt x="916" y="50007"/>
                </a:moveTo>
                <a:cubicBezTo>
                  <a:pt x="916" y="23704"/>
                  <a:pt x="-6336" y="0"/>
                  <a:pt x="19967" y="0"/>
                </a:cubicBezTo>
                <a:lnTo>
                  <a:pt x="2196389" y="4762"/>
                </a:lnTo>
                <a:cubicBezTo>
                  <a:pt x="2222692" y="4762"/>
                  <a:pt x="2213059" y="23704"/>
                  <a:pt x="2213059" y="50007"/>
                </a:cubicBezTo>
                <a:lnTo>
                  <a:pt x="2213059" y="240508"/>
                </a:lnTo>
                <a:cubicBezTo>
                  <a:pt x="2213059" y="266811"/>
                  <a:pt x="2191736" y="288134"/>
                  <a:pt x="2165433" y="288134"/>
                </a:cubicBezTo>
                <a:lnTo>
                  <a:pt x="48542" y="288134"/>
                </a:lnTo>
                <a:cubicBezTo>
                  <a:pt x="22239" y="288134"/>
                  <a:pt x="916" y="266811"/>
                  <a:pt x="916" y="240508"/>
                </a:cubicBezTo>
                <a:lnTo>
                  <a:pt x="916" y="5000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kern="0" dirty="0">
                <a:gradFill>
                  <a:gsLst>
                    <a:gs pos="0">
                      <a:srgbClr val="ECF7F1"/>
                    </a:gs>
                    <a:gs pos="100000">
                      <a:srgbClr val="F6E3BB"/>
                    </a:gs>
                  </a:gsLst>
                  <a:lin ang="5400000" scaled="0"/>
                </a:gradFill>
                <a:effectLst>
                  <a:outerShdw blurRad="114300" dist="114300" dir="5400000" sx="99000" sy="99000" algn="t" rotWithShape="0">
                    <a:prstClr val="black">
                      <a:alpha val="17000"/>
                    </a:prstClr>
                  </a:outerShdw>
                </a:effectLst>
                <a:latin typeface="等线" panose="02010600030101010101" charset="-122"/>
                <a:ea typeface="微软雅黑" panose="020B0503020204020204" charset="-122"/>
                <a:sym typeface="+mn-ea"/>
              </a:rPr>
              <a:t>上半学年公众号新闻稿整合</a:t>
            </a:r>
            <a:endParaRPr kumimoji="0" lang="zh-CN" altLang="en-US" sz="18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ECF7F1"/>
                  </a:gs>
                  <a:gs pos="100000">
                    <a:srgbClr val="F6E3BB"/>
                  </a:gs>
                </a:gsLst>
                <a:lin ang="5400000" scaled="0"/>
              </a:gradFill>
              <a:effectLst>
                <a:outerShdw blurRad="114300" dist="114300" dir="5400000" sx="99000" sy="99000" algn="t" rotWithShape="0">
                  <a:prstClr val="black">
                    <a:alpha val="17000"/>
                  </a:prstClr>
                </a:outerShdw>
              </a:effectLst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CE1A66-355B-090F-C470-036EB2EEED8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8"/>
          <a:stretch>
            <a:fillRect/>
          </a:stretch>
        </p:blipFill>
        <p:spPr>
          <a:xfrm>
            <a:off x="2814066" y="1379783"/>
            <a:ext cx="1601448" cy="349258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21345C0-6481-EAFE-51AA-A04ECD47A1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776" b="5027"/>
          <a:stretch>
            <a:fillRect/>
          </a:stretch>
        </p:blipFill>
        <p:spPr>
          <a:xfrm>
            <a:off x="4433581" y="1374846"/>
            <a:ext cx="1759563" cy="347981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985E9CF-6C42-B571-72AB-AAAEDB1814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22" b="13517"/>
          <a:stretch>
            <a:fillRect/>
          </a:stretch>
        </p:blipFill>
        <p:spPr>
          <a:xfrm>
            <a:off x="666750" y="1351413"/>
            <a:ext cx="2132000" cy="3523088"/>
          </a:xfrm>
          <a:prstGeom prst="rect">
            <a:avLst/>
          </a:prstGeom>
        </p:spPr>
      </p:pic>
      <p:pic>
        <p:nvPicPr>
          <p:cNvPr id="18" name="图片 17" descr="文本">
            <a:extLst>
              <a:ext uri="{FF2B5EF4-FFF2-40B4-BE49-F238E27FC236}">
                <a16:creationId xmlns:a16="http://schemas.microsoft.com/office/drawing/2014/main" id="{D3545D55-F25F-C86E-E71E-5CCB35306D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325" y="1826380"/>
            <a:ext cx="4740360" cy="26553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5"/>
          <p:cNvSpPr>
            <a:spLocks noChangeArrowheads="1"/>
          </p:cNvSpPr>
          <p:nvPr/>
        </p:nvSpPr>
        <p:spPr bwMode="auto">
          <a:xfrm>
            <a:off x="343561" y="306249"/>
            <a:ext cx="8266998" cy="7439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筑牢理想信念，炼铸红色青春</a:t>
            </a:r>
          </a:p>
        </p:txBody>
      </p:sp>
      <p:sp>
        <p:nvSpPr>
          <p:cNvPr id="61" name="矩形 60"/>
          <p:cNvSpPr/>
          <p:nvPr/>
        </p:nvSpPr>
        <p:spPr>
          <a:xfrm flipH="1">
            <a:off x="660399" y="1362423"/>
            <a:ext cx="10879665" cy="4042277"/>
          </a:xfrm>
          <a:prstGeom prst="rect">
            <a:avLst/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noFill/>
          </a:ln>
          <a:effectLst>
            <a:glow rad="127000">
              <a:schemeClr val="accent1">
                <a:lumMod val="20000"/>
                <a:lumOff val="80000"/>
              </a:schemeClr>
            </a:glow>
            <a:outerShdw blurRad="254000" dist="381000" dir="5400000" sx="97000" sy="97000" algn="tl" rotWithShape="0">
              <a:schemeClr val="accent1">
                <a:lumMod val="60000"/>
                <a:lumOff val="40000"/>
                <a:alpha val="20000"/>
              </a:scheme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98315" y="5461346"/>
            <a:ext cx="10595370" cy="1607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       积极协助组织开展志愿公益活动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次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，统筹协助与执行保障工作，其中“山乡盼暖阳，十月送温情”活动被人民日报报道。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gradFill>
                <a:gsLst>
                  <a:gs pos="30000">
                    <a:srgbClr val="EC2F41"/>
                  </a:gs>
                  <a:gs pos="100000">
                    <a:srgbClr val="FF873B"/>
                  </a:gs>
                </a:gsLst>
                <a:path path="circle">
                  <a:fillToRect l="100000" t="100000"/>
                </a:path>
              </a:gra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" y="201295"/>
            <a:ext cx="12185015" cy="5791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4" name="矩形 5"/>
          <p:cNvSpPr>
            <a:spLocks noChangeArrowheads="1"/>
          </p:cNvSpPr>
          <p:nvPr/>
        </p:nvSpPr>
        <p:spPr bwMode="auto">
          <a:xfrm>
            <a:off x="343561" y="73338"/>
            <a:ext cx="5416432" cy="662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活动保障与志愿服务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4234" y="841896"/>
            <a:ext cx="506741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协助组织活动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志愿项目协助落地（</a:t>
            </a:r>
            <a:r>
              <a:rPr kumimoji="0" lang="en-US" altLang="zh-CN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</a:t>
            </a:r>
            <a:r>
              <a:rPr kumimoji="0" lang="zh-CN" alt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项）</a:t>
            </a:r>
          </a:p>
        </p:txBody>
      </p:sp>
      <p:sp>
        <p:nvSpPr>
          <p:cNvPr id="9" name="矩形 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660400" y="5588000"/>
            <a:ext cx="10879667" cy="1168087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4" name="矩形: 圆角 10"/>
          <p:cNvSpPr/>
          <p:nvPr/>
        </p:nvSpPr>
        <p:spPr>
          <a:xfrm>
            <a:off x="805180" y="4848860"/>
            <a:ext cx="4961255" cy="403225"/>
          </a:xfrm>
          <a:custGeom>
            <a:avLst/>
            <a:gdLst>
              <a:gd name="connsiteX0" fmla="*/ 0 w 2212143"/>
              <a:gd name="connsiteY0" fmla="*/ 47626 h 285753"/>
              <a:gd name="connsiteX1" fmla="*/ 47626 w 2212143"/>
              <a:gd name="connsiteY1" fmla="*/ 0 h 285753"/>
              <a:gd name="connsiteX2" fmla="*/ 2164517 w 2212143"/>
              <a:gd name="connsiteY2" fmla="*/ 0 h 285753"/>
              <a:gd name="connsiteX3" fmla="*/ 2212143 w 2212143"/>
              <a:gd name="connsiteY3" fmla="*/ 47626 h 285753"/>
              <a:gd name="connsiteX4" fmla="*/ 2212143 w 2212143"/>
              <a:gd name="connsiteY4" fmla="*/ 238127 h 285753"/>
              <a:gd name="connsiteX5" fmla="*/ 2164517 w 2212143"/>
              <a:gd name="connsiteY5" fmla="*/ 285753 h 285753"/>
              <a:gd name="connsiteX6" fmla="*/ 47626 w 2212143"/>
              <a:gd name="connsiteY6" fmla="*/ 285753 h 285753"/>
              <a:gd name="connsiteX7" fmla="*/ 0 w 2212143"/>
              <a:gd name="connsiteY7" fmla="*/ 238127 h 285753"/>
              <a:gd name="connsiteX8" fmla="*/ 0 w 2212143"/>
              <a:gd name="connsiteY8" fmla="*/ 47626 h 285753"/>
              <a:gd name="connsiteX0-1" fmla="*/ 916 w 2213059"/>
              <a:gd name="connsiteY0-2" fmla="*/ 50007 h 288134"/>
              <a:gd name="connsiteX1-3" fmla="*/ 19967 w 2213059"/>
              <a:gd name="connsiteY1-4" fmla="*/ 0 h 288134"/>
              <a:gd name="connsiteX2-5" fmla="*/ 2165433 w 2213059"/>
              <a:gd name="connsiteY2-6" fmla="*/ 2381 h 288134"/>
              <a:gd name="connsiteX3-7" fmla="*/ 2213059 w 2213059"/>
              <a:gd name="connsiteY3-8" fmla="*/ 50007 h 288134"/>
              <a:gd name="connsiteX4-9" fmla="*/ 2213059 w 2213059"/>
              <a:gd name="connsiteY4-10" fmla="*/ 240508 h 288134"/>
              <a:gd name="connsiteX5-11" fmla="*/ 2165433 w 2213059"/>
              <a:gd name="connsiteY5-12" fmla="*/ 288134 h 288134"/>
              <a:gd name="connsiteX6-13" fmla="*/ 48542 w 2213059"/>
              <a:gd name="connsiteY6-14" fmla="*/ 288134 h 288134"/>
              <a:gd name="connsiteX7-15" fmla="*/ 916 w 2213059"/>
              <a:gd name="connsiteY7-16" fmla="*/ 240508 h 288134"/>
              <a:gd name="connsiteX8-17" fmla="*/ 916 w 2213059"/>
              <a:gd name="connsiteY8-18" fmla="*/ 50007 h 288134"/>
              <a:gd name="connsiteX0-19" fmla="*/ 916 w 2214780"/>
              <a:gd name="connsiteY0-20" fmla="*/ 50007 h 288134"/>
              <a:gd name="connsiteX1-21" fmla="*/ 19967 w 2214780"/>
              <a:gd name="connsiteY1-22" fmla="*/ 0 h 288134"/>
              <a:gd name="connsiteX2-23" fmla="*/ 2196389 w 2214780"/>
              <a:gd name="connsiteY2-24" fmla="*/ 4762 h 288134"/>
              <a:gd name="connsiteX3-25" fmla="*/ 2213059 w 2214780"/>
              <a:gd name="connsiteY3-26" fmla="*/ 50007 h 288134"/>
              <a:gd name="connsiteX4-27" fmla="*/ 2213059 w 2214780"/>
              <a:gd name="connsiteY4-28" fmla="*/ 240508 h 288134"/>
              <a:gd name="connsiteX5-29" fmla="*/ 2165433 w 2214780"/>
              <a:gd name="connsiteY5-30" fmla="*/ 288134 h 288134"/>
              <a:gd name="connsiteX6-31" fmla="*/ 48542 w 2214780"/>
              <a:gd name="connsiteY6-32" fmla="*/ 288134 h 288134"/>
              <a:gd name="connsiteX7-33" fmla="*/ 916 w 2214780"/>
              <a:gd name="connsiteY7-34" fmla="*/ 240508 h 288134"/>
              <a:gd name="connsiteX8-35" fmla="*/ 916 w 2214780"/>
              <a:gd name="connsiteY8-36" fmla="*/ 50007 h 2881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14780" h="288134">
                <a:moveTo>
                  <a:pt x="916" y="50007"/>
                </a:moveTo>
                <a:cubicBezTo>
                  <a:pt x="916" y="23704"/>
                  <a:pt x="-6336" y="0"/>
                  <a:pt x="19967" y="0"/>
                </a:cubicBezTo>
                <a:lnTo>
                  <a:pt x="2196389" y="4762"/>
                </a:lnTo>
                <a:cubicBezTo>
                  <a:pt x="2222692" y="4762"/>
                  <a:pt x="2213059" y="23704"/>
                  <a:pt x="2213059" y="50007"/>
                </a:cubicBezTo>
                <a:lnTo>
                  <a:pt x="2213059" y="240508"/>
                </a:lnTo>
                <a:cubicBezTo>
                  <a:pt x="2213059" y="266811"/>
                  <a:pt x="2191736" y="288134"/>
                  <a:pt x="2165433" y="288134"/>
                </a:cubicBezTo>
                <a:lnTo>
                  <a:pt x="48542" y="288134"/>
                </a:lnTo>
                <a:cubicBezTo>
                  <a:pt x="22239" y="288134"/>
                  <a:pt x="916" y="266811"/>
                  <a:pt x="916" y="240508"/>
                </a:cubicBezTo>
                <a:lnTo>
                  <a:pt x="916" y="5000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CF7F1"/>
                    </a:gs>
                    <a:gs pos="100000">
                      <a:srgbClr val="F6E3BB"/>
                    </a:gs>
                  </a:gsLst>
                  <a:lin ang="5400000" scaled="0"/>
                </a:gradFill>
                <a:effectLst>
                  <a:outerShdw blurRad="114300" dist="114300" dir="5400000" sx="99000" sy="99000" algn="t" rotWithShape="0">
                    <a:prstClr val="black">
                      <a:alpha val="17000"/>
                    </a:prstClr>
                  </a:outerShdw>
                </a:effectLst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  <a:sym typeface="+mn-ea"/>
              </a:rPr>
              <a:t>初见校园暖，新程绽芳华</a:t>
            </a:r>
            <a:endParaRPr kumimoji="0" lang="en-US" altLang="zh-CN" sz="18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ECF7F1"/>
                  </a:gs>
                  <a:gs pos="100000">
                    <a:srgbClr val="F6E3BB"/>
                  </a:gs>
                </a:gsLst>
                <a:lin ang="5400000" scaled="0"/>
              </a:gradFill>
              <a:effectLst>
                <a:outerShdw blurRad="114300" dist="114300" dir="5400000" sx="99000" sy="99000" algn="t" rotWithShape="0">
                  <a:prstClr val="black">
                    <a:alpha val="17000"/>
                  </a:prstClr>
                </a:outerShdw>
              </a:effectLst>
              <a:uLnTx/>
              <a:uFillTx/>
              <a:latin typeface="等线" panose="02010600030101010101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3" name="矩形: 圆角 10"/>
          <p:cNvSpPr/>
          <p:nvPr/>
        </p:nvSpPr>
        <p:spPr>
          <a:xfrm>
            <a:off x="6209665" y="4851400"/>
            <a:ext cx="5087620" cy="403225"/>
          </a:xfrm>
          <a:custGeom>
            <a:avLst/>
            <a:gdLst>
              <a:gd name="connsiteX0" fmla="*/ 0 w 2212143"/>
              <a:gd name="connsiteY0" fmla="*/ 47626 h 285753"/>
              <a:gd name="connsiteX1" fmla="*/ 47626 w 2212143"/>
              <a:gd name="connsiteY1" fmla="*/ 0 h 285753"/>
              <a:gd name="connsiteX2" fmla="*/ 2164517 w 2212143"/>
              <a:gd name="connsiteY2" fmla="*/ 0 h 285753"/>
              <a:gd name="connsiteX3" fmla="*/ 2212143 w 2212143"/>
              <a:gd name="connsiteY3" fmla="*/ 47626 h 285753"/>
              <a:gd name="connsiteX4" fmla="*/ 2212143 w 2212143"/>
              <a:gd name="connsiteY4" fmla="*/ 238127 h 285753"/>
              <a:gd name="connsiteX5" fmla="*/ 2164517 w 2212143"/>
              <a:gd name="connsiteY5" fmla="*/ 285753 h 285753"/>
              <a:gd name="connsiteX6" fmla="*/ 47626 w 2212143"/>
              <a:gd name="connsiteY6" fmla="*/ 285753 h 285753"/>
              <a:gd name="connsiteX7" fmla="*/ 0 w 2212143"/>
              <a:gd name="connsiteY7" fmla="*/ 238127 h 285753"/>
              <a:gd name="connsiteX8" fmla="*/ 0 w 2212143"/>
              <a:gd name="connsiteY8" fmla="*/ 47626 h 285753"/>
              <a:gd name="connsiteX0-1" fmla="*/ 916 w 2213059"/>
              <a:gd name="connsiteY0-2" fmla="*/ 50007 h 288134"/>
              <a:gd name="connsiteX1-3" fmla="*/ 19967 w 2213059"/>
              <a:gd name="connsiteY1-4" fmla="*/ 0 h 288134"/>
              <a:gd name="connsiteX2-5" fmla="*/ 2165433 w 2213059"/>
              <a:gd name="connsiteY2-6" fmla="*/ 2381 h 288134"/>
              <a:gd name="connsiteX3-7" fmla="*/ 2213059 w 2213059"/>
              <a:gd name="connsiteY3-8" fmla="*/ 50007 h 288134"/>
              <a:gd name="connsiteX4-9" fmla="*/ 2213059 w 2213059"/>
              <a:gd name="connsiteY4-10" fmla="*/ 240508 h 288134"/>
              <a:gd name="connsiteX5-11" fmla="*/ 2165433 w 2213059"/>
              <a:gd name="connsiteY5-12" fmla="*/ 288134 h 288134"/>
              <a:gd name="connsiteX6-13" fmla="*/ 48542 w 2213059"/>
              <a:gd name="connsiteY6-14" fmla="*/ 288134 h 288134"/>
              <a:gd name="connsiteX7-15" fmla="*/ 916 w 2213059"/>
              <a:gd name="connsiteY7-16" fmla="*/ 240508 h 288134"/>
              <a:gd name="connsiteX8-17" fmla="*/ 916 w 2213059"/>
              <a:gd name="connsiteY8-18" fmla="*/ 50007 h 288134"/>
              <a:gd name="connsiteX0-19" fmla="*/ 916 w 2214780"/>
              <a:gd name="connsiteY0-20" fmla="*/ 50007 h 288134"/>
              <a:gd name="connsiteX1-21" fmla="*/ 19967 w 2214780"/>
              <a:gd name="connsiteY1-22" fmla="*/ 0 h 288134"/>
              <a:gd name="connsiteX2-23" fmla="*/ 2196389 w 2214780"/>
              <a:gd name="connsiteY2-24" fmla="*/ 4762 h 288134"/>
              <a:gd name="connsiteX3-25" fmla="*/ 2213059 w 2214780"/>
              <a:gd name="connsiteY3-26" fmla="*/ 50007 h 288134"/>
              <a:gd name="connsiteX4-27" fmla="*/ 2213059 w 2214780"/>
              <a:gd name="connsiteY4-28" fmla="*/ 240508 h 288134"/>
              <a:gd name="connsiteX5-29" fmla="*/ 2165433 w 2214780"/>
              <a:gd name="connsiteY5-30" fmla="*/ 288134 h 288134"/>
              <a:gd name="connsiteX6-31" fmla="*/ 48542 w 2214780"/>
              <a:gd name="connsiteY6-32" fmla="*/ 288134 h 288134"/>
              <a:gd name="connsiteX7-33" fmla="*/ 916 w 2214780"/>
              <a:gd name="connsiteY7-34" fmla="*/ 240508 h 288134"/>
              <a:gd name="connsiteX8-35" fmla="*/ 916 w 2214780"/>
              <a:gd name="connsiteY8-36" fmla="*/ 50007 h 28813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214780" h="288134">
                <a:moveTo>
                  <a:pt x="916" y="50007"/>
                </a:moveTo>
                <a:cubicBezTo>
                  <a:pt x="916" y="23704"/>
                  <a:pt x="-6336" y="0"/>
                  <a:pt x="19967" y="0"/>
                </a:cubicBezTo>
                <a:lnTo>
                  <a:pt x="2196389" y="4762"/>
                </a:lnTo>
                <a:cubicBezTo>
                  <a:pt x="2222692" y="4762"/>
                  <a:pt x="2213059" y="23704"/>
                  <a:pt x="2213059" y="50007"/>
                </a:cubicBezTo>
                <a:lnTo>
                  <a:pt x="2213059" y="240508"/>
                </a:lnTo>
                <a:cubicBezTo>
                  <a:pt x="2213059" y="266811"/>
                  <a:pt x="2191736" y="288134"/>
                  <a:pt x="2165433" y="288134"/>
                </a:cubicBezTo>
                <a:lnTo>
                  <a:pt x="48542" y="288134"/>
                </a:lnTo>
                <a:cubicBezTo>
                  <a:pt x="22239" y="288134"/>
                  <a:pt x="916" y="266811"/>
                  <a:pt x="916" y="240508"/>
                </a:cubicBezTo>
                <a:lnTo>
                  <a:pt x="916" y="5000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CF7F1"/>
                    </a:gs>
                    <a:gs pos="100000">
                      <a:srgbClr val="F6E3BB"/>
                    </a:gs>
                  </a:gsLst>
                  <a:lin ang="5400000" scaled="0"/>
                </a:gradFill>
                <a:effectLst>
                  <a:outerShdw blurRad="114300" dist="114300" dir="5400000" sx="99000" sy="99000" algn="t" rotWithShape="0">
                    <a:prstClr val="black">
                      <a:alpha val="17000"/>
                    </a:prstClr>
                  </a:outerShdw>
                </a:effectLst>
                <a:uLnTx/>
                <a:uFillTx/>
                <a:latin typeface="等线" panose="02010600030101010101" charset="-122"/>
                <a:ea typeface="微软雅黑" panose="020B0503020204020204" charset="-122"/>
                <a:cs typeface="+mn-cs"/>
                <a:sym typeface="+mn-ea"/>
              </a:rPr>
              <a:t>山乡盼暖阳，十月送温情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3C2B3BE-877D-B57E-715C-3093CDAFF52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05777"/>
            <a:ext cx="4641288" cy="347960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CD197F6-CE40-A6BF-A06C-6CB2274B37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26" b="5811"/>
          <a:stretch>
            <a:fillRect/>
          </a:stretch>
        </p:blipFill>
        <p:spPr>
          <a:xfrm>
            <a:off x="9263270" y="1302433"/>
            <a:ext cx="2034015" cy="34923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CC044E4-D47A-3943-290E-E9E70FAF4AD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23"/>
          <a:stretch>
            <a:fillRect/>
          </a:stretch>
        </p:blipFill>
        <p:spPr>
          <a:xfrm>
            <a:off x="805180" y="1283263"/>
            <a:ext cx="1918913" cy="2628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图片 16" descr="电脑屏幕的照片上有文字&#10;&#10;AI 生成的内容可能不正确。">
            <a:extLst>
              <a:ext uri="{FF2B5EF4-FFF2-40B4-BE49-F238E27FC236}">
                <a16:creationId xmlns:a16="http://schemas.microsoft.com/office/drawing/2014/main" id="{0B46B3A3-8330-D968-3D76-AFA11740A9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4587" y="1292525"/>
            <a:ext cx="1854380" cy="25408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7" name="图片 26" descr="文本, 信件&#10;&#10;AI 生成的内容可能不正确。">
            <a:extLst>
              <a:ext uri="{FF2B5EF4-FFF2-40B4-BE49-F238E27FC236}">
                <a16:creationId xmlns:a16="http://schemas.microsoft.com/office/drawing/2014/main" id="{931AEA9F-809D-E360-1513-DA1AFA21B4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56804" y="1288645"/>
            <a:ext cx="1832375" cy="26120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2" name="图片 21" descr="一群人站在台上">
            <a:extLst>
              <a:ext uri="{FF2B5EF4-FFF2-40B4-BE49-F238E27FC236}">
                <a16:creationId xmlns:a16="http://schemas.microsoft.com/office/drawing/2014/main" id="{F72F7117-9822-C838-EAA9-884EBFCF08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5180" y="2597427"/>
            <a:ext cx="4783999" cy="22118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7"/>
          <p:cNvCxnSpPr/>
          <p:nvPr/>
        </p:nvCxnSpPr>
        <p:spPr>
          <a:xfrm>
            <a:off x="582000" y="4761147"/>
            <a:ext cx="10464372" cy="0"/>
          </a:xfrm>
          <a:prstGeom prst="line">
            <a:avLst/>
          </a:prstGeom>
          <a:ln w="69850">
            <a:gradFill flip="none" rotWithShape="1">
              <a:gsLst>
                <a:gs pos="3000">
                  <a:schemeClr val="accent1">
                    <a:lumMod val="5000"/>
                    <a:lumOff val="95000"/>
                    <a:alpha val="0"/>
                  </a:schemeClr>
                </a:gs>
                <a:gs pos="30000">
                  <a:srgbClr val="FFC000"/>
                </a:gs>
                <a:gs pos="51000">
                  <a:srgbClr val="FFC000"/>
                </a:gs>
                <a:gs pos="70000">
                  <a:srgbClr val="FFC000"/>
                </a:gs>
                <a:gs pos="96000">
                  <a:schemeClr val="bg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908058" y="4416762"/>
            <a:ext cx="1963488" cy="63318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期望</a:t>
            </a:r>
          </a:p>
        </p:txBody>
      </p:sp>
      <p:sp>
        <p:nvSpPr>
          <p:cNvPr id="7" name="矩形 6"/>
          <p:cNvSpPr/>
          <p:nvPr/>
        </p:nvSpPr>
        <p:spPr>
          <a:xfrm>
            <a:off x="0" y="154940"/>
            <a:ext cx="12192635" cy="5791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5"/>
          <p:cNvSpPr>
            <a:spLocks noChangeArrowheads="1"/>
          </p:cNvSpPr>
          <p:nvPr/>
        </p:nvSpPr>
        <p:spPr bwMode="auto">
          <a:xfrm>
            <a:off x="322538" y="58604"/>
            <a:ext cx="5416432" cy="6625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反思与未来计划</a:t>
            </a:r>
          </a:p>
        </p:txBody>
      </p:sp>
      <p:sp>
        <p:nvSpPr>
          <p:cNvPr id="10" name="矩形 9"/>
          <p:cNvSpPr/>
          <p:nvPr/>
        </p:nvSpPr>
        <p:spPr>
          <a:xfrm flipH="1">
            <a:off x="2033832" y="5278480"/>
            <a:ext cx="8051311" cy="1212159"/>
          </a:xfrm>
          <a:prstGeom prst="rect">
            <a:avLst/>
          </a:prstGeom>
          <a:solidFill>
            <a:schemeClr val="accent1">
              <a:lumMod val="20000"/>
              <a:lumOff val="80000"/>
              <a:alpha val="52000"/>
            </a:schemeClr>
          </a:solidFill>
          <a:ln>
            <a:noFill/>
          </a:ln>
          <a:effectLst>
            <a:glow rad="127000">
              <a:schemeClr val="accent1">
                <a:lumMod val="20000"/>
                <a:lumOff val="80000"/>
              </a:schemeClr>
            </a:glow>
            <a:outerShdw blurRad="254000" dist="381000" dir="5400000" sx="97000" sy="97000" algn="tl" rotWithShape="0">
              <a:schemeClr val="accent1">
                <a:lumMod val="60000"/>
                <a:lumOff val="40000"/>
                <a:alpha val="20000"/>
              </a:schemeClr>
            </a:outerShdw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8AF69EA-6FDC-D756-A65F-9E11AEF0E16C}"/>
              </a:ext>
            </a:extLst>
          </p:cNvPr>
          <p:cNvSpPr txBox="1"/>
          <p:nvPr/>
        </p:nvSpPr>
        <p:spPr>
          <a:xfrm>
            <a:off x="164944" y="1862701"/>
            <a:ext cx="11862112" cy="20638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统筹协调不足 </a:t>
            </a: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——&gt;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 下学期提前制定活动节点计划，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明确负责人，减少临时协调与赶工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材料标准化与沉淀不系统</a:t>
            </a: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——&gt;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对新闻稿合辑、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等形成可复用标准件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验收环节把控</a:t>
            </a: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——&gt;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制作宣传</a:t>
            </a:r>
            <a:r>
              <a:rPr lang="en-US" altLang="zh-CN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与材料时目前更多聚焦于“把内容做出来”，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对质量把关还不够强</a:t>
            </a:r>
            <a:r>
              <a:rPr lang="zh-CN" altLang="en-US" sz="22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2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2CF8A3-AFF3-0C16-6C6D-DD7F09795C34}"/>
              </a:ext>
            </a:extLst>
          </p:cNvPr>
          <p:cNvSpPr/>
          <p:nvPr/>
        </p:nvSpPr>
        <p:spPr>
          <a:xfrm>
            <a:off x="83127" y="949661"/>
            <a:ext cx="10146421" cy="581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明确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办公室部门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职能以及加强部门内同学们工作的组织与协调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3">
            <a:extLst>
              <a:ext uri="{FF2B5EF4-FFF2-40B4-BE49-F238E27FC236}">
                <a16:creationId xmlns:a16="http://schemas.microsoft.com/office/drawing/2014/main" id="{EB967BB4-13B2-A733-BC06-287B3CDD14F4}"/>
              </a:ext>
            </a:extLst>
          </p:cNvPr>
          <p:cNvSpPr/>
          <p:nvPr/>
        </p:nvSpPr>
        <p:spPr>
          <a:xfrm>
            <a:off x="1380085" y="5181755"/>
            <a:ext cx="9358803" cy="1308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buClr>
                <a:srgbClr val="629DD1"/>
              </a:buClr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提高部门工作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效率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buClr>
                <a:srgbClr val="629DD1"/>
              </a:buClr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保障成果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按时保质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E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5027295"/>
            <a:ext cx="12192000" cy="168275"/>
          </a:xfrm>
          <a:prstGeom prst="rect">
            <a:avLst/>
          </a:prstGeom>
          <a:gradFill>
            <a:gsLst>
              <a:gs pos="0">
                <a:srgbClr val="013AEF"/>
              </a:gs>
              <a:gs pos="100000">
                <a:srgbClr val="013AEF"/>
              </a:gs>
              <a:gs pos="65000">
                <a:srgbClr val="4883F7">
                  <a:alpha val="100000"/>
                </a:srgbClr>
              </a:gs>
              <a:gs pos="32000">
                <a:srgbClr val="4883F7">
                  <a:alpha val="100000"/>
                </a:srgbClr>
              </a:gs>
              <a:gs pos="52000">
                <a:srgbClr val="8FCBFF"/>
              </a:gs>
            </a:gsLst>
            <a:lin ang="8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12192000" cy="5113020"/>
          </a:xfrm>
          <a:prstGeom prst="rect">
            <a:avLst/>
          </a:prstGeom>
          <a:blipFill rotWithShape="1">
            <a:blip r:embed="rId10"/>
            <a:srcRect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5113020"/>
          </a:xfrm>
          <a:prstGeom prst="rect">
            <a:avLst/>
          </a:prstGeom>
          <a:gradFill>
            <a:gsLst>
              <a:gs pos="19000">
                <a:srgbClr val="013AEF">
                  <a:alpha val="90000"/>
                </a:srgbClr>
              </a:gs>
              <a:gs pos="100000">
                <a:srgbClr val="013AEF">
                  <a:alpha val="70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图片 9" descr="logo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91648" y="793750"/>
            <a:ext cx="3608705" cy="708660"/>
          </a:xfrm>
          <a:prstGeom prst="rect">
            <a:avLst/>
          </a:prstGeom>
        </p:spPr>
      </p:pic>
      <p:sp>
        <p:nvSpPr>
          <p:cNvPr id="13" name="文本框 12" hidden="1"/>
          <p:cNvSpPr txBox="1"/>
          <p:nvPr/>
        </p:nvSpPr>
        <p:spPr>
          <a:xfrm>
            <a:off x="254000" y="1943100"/>
            <a:ext cx="11953240" cy="132207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奋辑</a:t>
            </a:r>
            <a:r>
              <a:rPr kumimoji="0" lang="en-US" sz="80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扬帆</a:t>
            </a:r>
            <a:r>
              <a:rPr kumimoji="0" lang="en-US" sz="6600" b="0" i="0" u="none" strike="noStrike" kern="1200" cap="none" spc="-300" normalizeH="0" baseline="0" noProof="0">
                <a:ln>
                  <a:noFill/>
                </a:ln>
                <a:blipFill>
                  <a:blip r:embed="rId12"/>
                  <a:stretch>
                    <a:fillRect/>
                  </a:stretch>
                </a:blipFill>
                <a:effectLst>
                  <a:reflection blurRad="50800" stA="60000" endA="900" endPos="60000" dist="29997" dir="5400000" sy="-100000" algn="bl" rotWithShape="0"/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勇向前 笃行不怠谱新篇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2973070" y="5764529"/>
            <a:ext cx="6374130" cy="594000"/>
            <a:chOff x="4682" y="9078"/>
            <a:chExt cx="10038" cy="935"/>
          </a:xfrm>
        </p:grpSpPr>
        <p:grpSp>
          <p:nvGrpSpPr>
            <p:cNvPr id="2" name="组合 1"/>
            <p:cNvGrpSpPr/>
            <p:nvPr/>
          </p:nvGrpSpPr>
          <p:grpSpPr>
            <a:xfrm>
              <a:off x="4682" y="9078"/>
              <a:ext cx="3763" cy="935"/>
              <a:chOff x="735" y="7612"/>
              <a:chExt cx="3271" cy="794"/>
            </a:xfrm>
          </p:grpSpPr>
          <p:grpSp>
            <p:nvGrpSpPr>
              <p:cNvPr id="8" name="组合 7"/>
              <p:cNvGrpSpPr/>
              <p:nvPr/>
            </p:nvGrpSpPr>
            <p:grpSpPr>
              <a:xfrm>
                <a:off x="818" y="7612"/>
                <a:ext cx="3188" cy="794"/>
                <a:chOff x="3260765" y="4412055"/>
                <a:chExt cx="2024681" cy="491751"/>
              </a:xfrm>
            </p:grpSpPr>
            <p:sp>
              <p:nvSpPr>
                <p:cNvPr id="11" name="对角圆角矩形 10"/>
                <p:cNvSpPr/>
                <p:nvPr/>
              </p:nvSpPr>
              <p:spPr>
                <a:xfrm>
                  <a:off x="3685242" y="4420993"/>
                  <a:ext cx="1600204" cy="47102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2992FE"/>
                      </a:gs>
                    </a:gsLst>
                    <a:lin ang="5400000" scaled="1"/>
                  </a:gradFill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3" name="对角圆角矩形 2"/>
                <p:cNvSpPr/>
                <p:nvPr/>
              </p:nvSpPr>
              <p:spPr>
                <a:xfrm>
                  <a:off x="3260765" y="4412055"/>
                  <a:ext cx="893111" cy="49175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>
                  <a:gsLst>
                    <a:gs pos="0">
                      <a:srgbClr val="0000AF"/>
                    </a:gs>
                    <a:gs pos="100000">
                      <a:srgbClr val="013AEF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no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9" name="文本框 8"/>
              <p:cNvSpPr txBox="1"/>
              <p:nvPr/>
            </p:nvSpPr>
            <p:spPr>
              <a:xfrm>
                <a:off x="735" y="7796"/>
                <a:ext cx="1598" cy="457"/>
              </a:xfrm>
              <a:prstGeom prst="rect">
                <a:avLst/>
              </a:prstGeom>
            </p:spPr>
            <p:txBody>
              <a:bodyPr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prstClr val="white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答辩</a:t>
                </a: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人</a:t>
                </a:r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2426" y="7765"/>
                <a:ext cx="1197" cy="4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lang="zh-CN" altLang="en-US" sz="1800" b="1" dirty="0">
                    <a:solidFill>
                      <a:schemeClr val="tx1"/>
                    </a:solidFill>
                    <a:cs typeface="微软雅黑" panose="020B0503020204020204" charset="-122"/>
                  </a:rPr>
                  <a:t>张旭</a:t>
                </a:r>
                <a:endParaRPr kumimoji="0" lang="zh-CN" altLang="en-US" sz="1800" b="1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p:grpSp>
        <p:grpSp>
          <p:nvGrpSpPr>
            <p:cNvPr id="6" name="组合 5"/>
            <p:cNvGrpSpPr/>
            <p:nvPr/>
          </p:nvGrpSpPr>
          <p:grpSpPr>
            <a:xfrm>
              <a:off x="10174" y="9100"/>
              <a:ext cx="4546" cy="901"/>
              <a:chOff x="553" y="7630"/>
              <a:chExt cx="3951" cy="765"/>
            </a:xfrm>
          </p:grpSpPr>
          <p:grpSp>
            <p:nvGrpSpPr>
              <p:cNvPr id="7" name="组合 6"/>
              <p:cNvGrpSpPr/>
              <p:nvPr/>
            </p:nvGrpSpPr>
            <p:grpSpPr>
              <a:xfrm>
                <a:off x="831" y="7630"/>
                <a:ext cx="3673" cy="765"/>
                <a:chOff x="3269045" y="4428493"/>
                <a:chExt cx="2332191" cy="474561"/>
              </a:xfrm>
            </p:grpSpPr>
            <p:sp>
              <p:nvSpPr>
                <p:cNvPr id="14" name="对角圆角矩形 13"/>
                <p:cNvSpPr/>
                <p:nvPr/>
              </p:nvSpPr>
              <p:spPr>
                <a:xfrm>
                  <a:off x="3685153" y="4439760"/>
                  <a:ext cx="1916083" cy="443245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solidFill>
                  <a:schemeClr val="bg1"/>
                </a:solidFill>
                <a:ln>
                  <a:gradFill>
                    <a:gsLst>
                      <a:gs pos="0">
                        <a:schemeClr val="accent1">
                          <a:lumMod val="5000"/>
                          <a:lumOff val="95000"/>
                        </a:schemeClr>
                      </a:gs>
                      <a:gs pos="100000">
                        <a:srgbClr val="2992FE"/>
                      </a:gs>
                    </a:gsLst>
                    <a:lin ang="5400000" scaled="1"/>
                  </a:gradFill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  <p:sp>
              <p:nvSpPr>
                <p:cNvPr id="16" name="对角圆角矩形 15"/>
                <p:cNvSpPr/>
                <p:nvPr/>
              </p:nvSpPr>
              <p:spPr>
                <a:xfrm>
                  <a:off x="3269045" y="4428493"/>
                  <a:ext cx="892875" cy="474561"/>
                </a:xfrm>
                <a:prstGeom prst="round2DiagRect">
                  <a:avLst>
                    <a:gd name="adj1" fmla="val 50000"/>
                    <a:gd name="adj2" fmla="val 0"/>
                  </a:avLst>
                </a:prstGeom>
                <a:gradFill>
                  <a:gsLst>
                    <a:gs pos="0">
                      <a:srgbClr val="0000AF"/>
                    </a:gs>
                    <a:gs pos="100000">
                      <a:srgbClr val="013AEF"/>
                    </a:gs>
                  </a:gsLst>
                  <a:lin ang="5400000" scaled="0"/>
                </a:gradFill>
                <a:ln>
                  <a:noFill/>
                </a:ln>
                <a:effectLst>
                  <a:outerShdw sx="1000" sy="1000" algn="ctr" rotWithShape="0">
                    <a:schemeClr val="accent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endParaRPr>
                </a:p>
              </p:txBody>
            </p:sp>
          </p:grpSp>
          <p:sp>
            <p:nvSpPr>
              <p:cNvPr id="20" name="文本框 19"/>
              <p:cNvSpPr txBox="1"/>
              <p:nvPr/>
            </p:nvSpPr>
            <p:spPr>
              <a:xfrm>
                <a:off x="553" y="7819"/>
                <a:ext cx="1995" cy="457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zh-CN" alt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时间</a:t>
                </a: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2237" y="7802"/>
                <a:ext cx="2267" cy="4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>
                <a:lvl1pPr marL="0" indent="0" algn="ctr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2400" b="0" kern="1200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4572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defRPr/>
                </a:pPr>
                <a:r>
                  <a:rPr kumimoji="0" lang="en-US" altLang="zh-CN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2025.1.24</a:t>
                </a:r>
              </a:p>
            </p:txBody>
          </p:sp>
        </p:grp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495E958E-615B-598A-3A1F-703B552E8113}"/>
              </a:ext>
            </a:extLst>
          </p:cNvPr>
          <p:cNvSpPr txBox="1"/>
          <p:nvPr/>
        </p:nvSpPr>
        <p:spPr>
          <a:xfrm>
            <a:off x="1156819" y="4053850"/>
            <a:ext cx="98796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抖音美好体" panose="02000800000000000000" charset="-122"/>
                <a:ea typeface="抖音美好体" panose="02000800000000000000" charset="-122"/>
                <a:cs typeface="微软雅黑" panose="020B0503020204020204" charset="-122"/>
              </a:rPr>
              <a:t>西北工业大学计算机学院研究生会办公室部门负责人述职答辩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5F294B83-AC65-7990-DD85-49EB06A1F4C3}"/>
              </a:ext>
            </a:extLst>
          </p:cNvPr>
          <p:cNvGrpSpPr/>
          <p:nvPr/>
        </p:nvGrpSpPr>
        <p:grpSpPr>
          <a:xfrm>
            <a:off x="700889" y="4239260"/>
            <a:ext cx="455930" cy="152400"/>
            <a:chOff x="629294" y="1174543"/>
            <a:chExt cx="303304" cy="152400"/>
          </a:xfrm>
        </p:grpSpPr>
        <p:cxnSp>
          <p:nvCxnSpPr>
            <p:cNvPr id="23" name="直接连接符 22">
              <a:extLst>
                <a:ext uri="{FF2B5EF4-FFF2-40B4-BE49-F238E27FC236}">
                  <a16:creationId xmlns:a16="http://schemas.microsoft.com/office/drawing/2014/main" id="{F429A25F-0762-3AC3-20D1-2746157C9FB8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 flipH="1" flipV="1">
              <a:off x="629294" y="12507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E6862167-227D-D3BC-A7AB-8E29F58E93BE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 flipH="1" flipV="1">
              <a:off x="695554" y="11745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D4130C41-544D-C44E-F3DB-D404F5C283D8}"/>
                </a:ext>
              </a:extLst>
            </p:cNvPr>
            <p:cNvCxnSpPr/>
            <p:nvPr>
              <p:custDataLst>
                <p:tags r:id="rId8"/>
              </p:custDataLst>
            </p:nvPr>
          </p:nvCxnSpPr>
          <p:spPr>
            <a:xfrm flipH="1" flipV="1">
              <a:off x="695554" y="13269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B517145-A361-D63B-4FF3-FFD7B845B853}"/>
              </a:ext>
            </a:extLst>
          </p:cNvPr>
          <p:cNvGrpSpPr/>
          <p:nvPr/>
        </p:nvGrpSpPr>
        <p:grpSpPr>
          <a:xfrm flipH="1">
            <a:off x="10977031" y="4239260"/>
            <a:ext cx="455930" cy="152400"/>
            <a:chOff x="629294" y="1174543"/>
            <a:chExt cx="303304" cy="152400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14250E4D-D06E-5307-EFC5-45DDF80071B4}"/>
                </a:ext>
              </a:extLst>
            </p:cNvPr>
            <p:cNvCxnSpPr/>
            <p:nvPr>
              <p:custDataLst>
                <p:tags r:id="rId3"/>
              </p:custDataLst>
            </p:nvPr>
          </p:nvCxnSpPr>
          <p:spPr>
            <a:xfrm flipH="1" flipV="1">
              <a:off x="629294" y="12507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34DE76CD-60AB-4593-E462-B9484B9534A1}"/>
                </a:ext>
              </a:extLst>
            </p:cNvPr>
            <p:cNvCxnSpPr/>
            <p:nvPr>
              <p:custDataLst>
                <p:tags r:id="rId4"/>
              </p:custDataLst>
            </p:nvPr>
          </p:nvCxnSpPr>
          <p:spPr>
            <a:xfrm flipH="1" flipV="1">
              <a:off x="695554" y="11745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4A68B47D-B8E7-C0A9-8922-56A20144B563}"/>
                </a:ext>
              </a:extLst>
            </p:cNvPr>
            <p:cNvCxnSpPr/>
            <p:nvPr>
              <p:custDataLst>
                <p:tags r:id="rId5"/>
              </p:custDataLst>
            </p:nvPr>
          </p:nvCxnSpPr>
          <p:spPr>
            <a:xfrm flipH="1" flipV="1">
              <a:off x="695554" y="1326943"/>
              <a:ext cx="237044" cy="0"/>
            </a:xfrm>
            <a:prstGeom prst="line">
              <a:avLst/>
            </a:prstGeom>
            <a:ln w="12700">
              <a:gradFill>
                <a:gsLst>
                  <a:gs pos="11000">
                    <a:schemeClr val="accent1">
                      <a:lumMod val="60000"/>
                      <a:lumOff val="40000"/>
                    </a:schemeClr>
                  </a:gs>
                  <a:gs pos="0">
                    <a:schemeClr val="accent1">
                      <a:lumMod val="60000"/>
                      <a:lumOff val="40000"/>
                    </a:schemeClr>
                  </a:gs>
                  <a:gs pos="83000">
                    <a:schemeClr val="accent1">
                      <a:lumMod val="60000"/>
                      <a:lumOff val="40000"/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9A69DCB1-70BE-D512-F926-A913D8E8119F}"/>
              </a:ext>
            </a:extLst>
          </p:cNvPr>
          <p:cNvSpPr txBox="1"/>
          <p:nvPr/>
        </p:nvSpPr>
        <p:spPr>
          <a:xfrm>
            <a:off x="158887" y="2294220"/>
            <a:ext cx="130094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劈波</a:t>
            </a:r>
            <a:r>
              <a:rPr lang="zh-CN" altLang="en-US" sz="72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逐浪</a:t>
            </a:r>
            <a:r>
              <a:rPr lang="zh-CN" altLang="en-US" sz="60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向新途  躬身实干</a:t>
            </a:r>
            <a:r>
              <a:rPr lang="zh-CN" altLang="en-US" sz="7200" dirty="0">
                <a:ln w="0"/>
                <a:gradFill>
                  <a:gsLst>
                    <a:gs pos="100000">
                      <a:schemeClr val="accent3">
                        <a:lumMod val="20000"/>
                        <a:lumOff val="80000"/>
                      </a:schemeClr>
                    </a:gs>
                    <a:gs pos="3000">
                      <a:schemeClr val="bg1"/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绘新卷</a:t>
            </a:r>
            <a:endParaRPr lang="zh-CN" altLang="en-US" sz="6000" dirty="0">
              <a:ln w="0"/>
              <a:gradFill>
                <a:gsLst>
                  <a:gs pos="100000">
                    <a:schemeClr val="accent3">
                      <a:lumMod val="20000"/>
                      <a:lumOff val="80000"/>
                    </a:schemeClr>
                  </a:gs>
                  <a:gs pos="3000">
                    <a:schemeClr val="bg1"/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467</Words>
  <Application>Microsoft Office PowerPoint</Application>
  <PresentationFormat>宽屏</PresentationFormat>
  <Paragraphs>52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等线</vt:lpstr>
      <vt:lpstr>抖音美好体</vt:lpstr>
      <vt:lpstr>华文行楷</vt:lpstr>
      <vt:lpstr>思源宋体 CN Heavy</vt:lpstr>
      <vt:lpstr>微软雅黑</vt:lpstr>
      <vt:lpstr>Arial</vt:lpstr>
      <vt:lpstr>Calibri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赵恺津</dc:creator>
  <cp:lastModifiedBy>星 晗</cp:lastModifiedBy>
  <cp:revision>70</cp:revision>
  <dcterms:created xsi:type="dcterms:W3CDTF">2023-08-09T12:44:00Z</dcterms:created>
  <dcterms:modified xsi:type="dcterms:W3CDTF">2026-01-22T09:37:30Z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