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24.xml" ContentType="application/vnd.openxmlformats-officedocument.presentationml.slide+xml"/>
  <Override PartName="/ppt/slides/slide36.xml" ContentType="application/vnd.openxmlformats-officedocument.presentationml.slide+xml"/>
  <Override PartName="/ppt/slides/slide25.xml" ContentType="application/vnd.openxmlformats-officedocument.presentationml.slide+xml"/>
  <Override PartName="/ppt/slides/slide37.xml" ContentType="application/vnd.openxmlformats-officedocument.presentationml.slide+xml"/>
  <Override PartName="/ppt/slides/_rels/slide10.xml.rels" ContentType="application/vnd.openxmlformats-package.relationships+xml"/>
  <Override PartName="/ppt/slides/_rels/slide17.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35.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37.xml.rels" ContentType="application/vnd.openxmlformats-package.relationships+xml"/>
  <Override PartName="/ppt/slides/_rels/slide2.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9.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BCD4E414-112E-4FEB-B08D-72077540EF47}" type="slidenum">
              <a:t>&lt;#&gt;</a:t>
            </a:fld>
          </a:p>
        </p:txBody>
      </p:sp>
      <p:sp>
        <p:nvSpPr>
          <p:cNvPr id="4" name="PlaceHolder 3"/>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743040" indent="-28584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Arial"/>
              </a:rPr>
              <a:t>Second Outline Level</a:t>
            </a:r>
            <a:endParaRPr b="0" lang="en-US" sz="3200" spc="-1" strike="noStrike">
              <a:solidFill>
                <a:srgbClr val="000000"/>
              </a:solidFill>
              <a:latin typeface="Arial"/>
            </a:endParaRPr>
          </a:p>
          <a:p>
            <a:pPr lvl="2" marL="11430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Arial"/>
              </a:rPr>
              <a:t>Third Outline Level</a:t>
            </a:r>
            <a:endParaRPr b="0" lang="en-US" sz="3200" spc="-1" strike="noStrike">
              <a:solidFill>
                <a:srgbClr val="000000"/>
              </a:solidFill>
              <a:latin typeface="Arial"/>
            </a:endParaRPr>
          </a:p>
          <a:p>
            <a:pPr lvl="3" marL="16002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Arial"/>
              </a:rPr>
              <a:t>Fourth Outline Level</a:t>
            </a:r>
            <a:endParaRPr b="0" lang="en-US" sz="3200" spc="-1" strike="noStrike">
              <a:solidFill>
                <a:srgbClr val="000000"/>
              </a:solidFill>
              <a:latin typeface="Arial"/>
            </a:endParaRPr>
          </a:p>
          <a:p>
            <a:pPr lvl="4"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Arial"/>
              </a:rPr>
              <a:t>Fifth Outline Level</a:t>
            </a:r>
            <a:endParaRPr b="0" lang="en-US" sz="3200" spc="-1" strike="noStrike">
              <a:solidFill>
                <a:srgbClr val="000000"/>
              </a:solidFill>
              <a:latin typeface="Arial"/>
            </a:endParaRPr>
          </a:p>
          <a:p>
            <a:pPr lvl="5"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Arial"/>
              </a:rPr>
              <a:t>Sixth Outline Level</a:t>
            </a:r>
            <a:endParaRPr b="0" lang="en-US" sz="3200" spc="-1" strike="noStrike">
              <a:solidFill>
                <a:srgbClr val="000000"/>
              </a:solidFill>
              <a:latin typeface="Arial"/>
            </a:endParaRPr>
          </a:p>
          <a:p>
            <a:pPr lvl="6"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Arial"/>
              </a:rPr>
              <a:t>Seventh Outline Level</a:t>
            </a:r>
            <a:endParaRPr b="0" lang="en-US" sz="3200" spc="-1" strike="noStrike">
              <a:solidFill>
                <a:srgbClr val="000000"/>
              </a:solidFill>
              <a:latin typeface="Arial"/>
            </a:endParaRPr>
          </a:p>
        </p:txBody>
      </p:sp>
      <p:sp>
        <p:nvSpPr>
          <p:cNvPr id="2" name="PlaceHolder 3"/>
          <p:cNvSpPr>
            <a:spLocks noGrp="1"/>
          </p:cNvSpPr>
          <p:nvPr>
            <p:ph type="dt" idx="1"/>
          </p:nvPr>
        </p:nvSpPr>
        <p:spPr>
          <a:xfrm>
            <a:off x="456840" y="6244920"/>
            <a:ext cx="2133720" cy="47628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3" name="PlaceHolder 4"/>
          <p:cNvSpPr>
            <a:spLocks noGrp="1"/>
          </p:cNvSpPr>
          <p:nvPr>
            <p:ph type="ftr" idx="2"/>
          </p:nvPr>
        </p:nvSpPr>
        <p:spPr>
          <a:xfrm>
            <a:off x="3124080" y="6244920"/>
            <a:ext cx="2895840" cy="47628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4" name="PlaceHolder 5"/>
          <p:cNvSpPr>
            <a:spLocks noGrp="1"/>
          </p:cNvSpPr>
          <p:nvPr>
            <p:ph type="sldNum" idx="3"/>
          </p:nvPr>
        </p:nvSpPr>
        <p:spPr>
          <a:xfrm>
            <a:off x="6552720" y="6244920"/>
            <a:ext cx="2133720" cy="47628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solidFill>
                  <a:srgbClr val="000000"/>
                </a:solidFill>
                <a:latin typeface="Arial"/>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C1F2A67-9CEC-449C-96ED-492DAAB3EE63}" type="slidenum">
              <a:rPr b="0" lang="en-US" sz="1400" spc="-1" strike="noStrike">
                <a:solidFill>
                  <a:srgbClr val="000000"/>
                </a:solidFill>
                <a:latin typeface="Arial"/>
              </a:rPr>
              <a:t>&lt;number&gt;</a:t>
            </a:fld>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2130120"/>
            <a:ext cx="7772400" cy="146988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4400" spc="-1" strike="noStrike">
                <a:solidFill>
                  <a:srgbClr val="000000"/>
                </a:solidFill>
                <a:latin typeface="Arial"/>
              </a:rPr>
              <a:t>第二編　音声・音韻</a:t>
            </a:r>
            <a:endParaRPr b="0" lang="en-US"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320"/>
            <a:ext cx="822960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4400" spc="-1" strike="noStrike">
                <a:solidFill>
                  <a:srgbClr val="000000"/>
                </a:solidFill>
                <a:latin typeface="Arial"/>
              </a:rPr>
              <a:t>言語記号の恣意性</a:t>
            </a:r>
            <a:endParaRPr b="0" lang="en-US" sz="4400" spc="-1" strike="noStrike">
              <a:solidFill>
                <a:srgbClr val="000000"/>
              </a:solidFill>
              <a:latin typeface="Arial"/>
            </a:endParaRPr>
          </a:p>
        </p:txBody>
      </p:sp>
      <p:sp>
        <p:nvSpPr>
          <p:cNvPr id="7" name="PlaceHolder 2"/>
          <p:cNvSpPr>
            <a:spLocks noGrp="1"/>
          </p:cNvSpPr>
          <p:nvPr>
            <p:ph/>
          </p:nvPr>
        </p:nvSpPr>
        <p:spPr>
          <a:xfrm>
            <a:off x="457200" y="1600200"/>
            <a:ext cx="8229600" cy="4525920"/>
          </a:xfrm>
          <a:prstGeom prst="rect">
            <a:avLst/>
          </a:prstGeom>
          <a:noFill/>
          <a:ln w="0">
            <a:noFill/>
          </a:ln>
        </p:spPr>
        <p:txBody>
          <a:bodyPr lIns="91440" rIns="91440" tIns="45720" bIns="45720" anchor="t">
            <a:normAutofit/>
          </a:bodyPr>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犬ー</a:t>
            </a:r>
            <a:r>
              <a:rPr b="0" lang="en-US" sz="2800" spc="-1" strike="noStrike">
                <a:solidFill>
                  <a:srgbClr val="000000"/>
                </a:solidFill>
                <a:latin typeface="Arial"/>
              </a:rPr>
              <a:t>dog</a:t>
            </a:r>
            <a:r>
              <a:rPr b="0" lang="ja-JP" sz="2800" spc="-1" strike="noStrike">
                <a:solidFill>
                  <a:srgbClr val="000000"/>
                </a:solidFill>
                <a:latin typeface="Arial"/>
              </a:rPr>
              <a:t>ー</a:t>
            </a:r>
            <a:r>
              <a:rPr b="0" lang="zh-CN" sz="2800" spc="-1" strike="noStrike">
                <a:solidFill>
                  <a:srgbClr val="000000"/>
                </a:solidFill>
                <a:latin typeface="Arial"/>
              </a:rPr>
              <a:t>狗</a:t>
            </a:r>
            <a:r>
              <a:rPr b="0" lang="en-US" sz="2800" spc="-1" strike="noStrike">
                <a:solidFill>
                  <a:srgbClr val="000000"/>
                </a:solidFill>
                <a:latin typeface="Arial"/>
              </a:rPr>
              <a:t>gou</a:t>
            </a:r>
            <a:endParaRPr b="0" lang="en-US" sz="2800" spc="-1" strike="noStrike">
              <a:solidFill>
                <a:srgbClr val="000000"/>
              </a:solidFill>
              <a:latin typeface="Arial"/>
            </a:endParaRPr>
          </a:p>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ねこー</a:t>
            </a:r>
            <a:r>
              <a:rPr b="0" lang="en-US" sz="2800" spc="-1" strike="noStrike">
                <a:solidFill>
                  <a:srgbClr val="000000"/>
                </a:solidFill>
                <a:latin typeface="Arial"/>
              </a:rPr>
              <a:t>cat</a:t>
            </a:r>
            <a:r>
              <a:rPr b="0" lang="ja-JP" sz="2800" spc="-1" strike="noStrike">
                <a:solidFill>
                  <a:srgbClr val="000000"/>
                </a:solidFill>
                <a:latin typeface="Arial"/>
              </a:rPr>
              <a:t>ー</a:t>
            </a:r>
            <a:r>
              <a:rPr b="0" lang="zh-CN" sz="2800" spc="-1" strike="noStrike">
                <a:solidFill>
                  <a:srgbClr val="000000"/>
                </a:solidFill>
                <a:latin typeface="Arial"/>
              </a:rPr>
              <a:t>猫</a:t>
            </a:r>
            <a:r>
              <a:rPr b="0" lang="en-US" sz="2800" spc="-1" strike="noStrike">
                <a:solidFill>
                  <a:srgbClr val="000000"/>
                </a:solidFill>
                <a:latin typeface="Arial"/>
              </a:rPr>
              <a:t>mao</a:t>
            </a:r>
            <a:endParaRPr b="0" lang="en-US" sz="2800" spc="-1" strike="noStrike">
              <a:solidFill>
                <a:srgbClr val="000000"/>
              </a:solidFill>
              <a:latin typeface="Arial"/>
            </a:endParaRPr>
          </a:p>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Arial"/>
              </a:rPr>
              <a:t>※</a:t>
            </a:r>
            <a:r>
              <a:rPr b="0" lang="ja-JP" sz="2800" spc="-1" strike="noStrike">
                <a:solidFill>
                  <a:srgbClr val="000000"/>
                </a:solidFill>
                <a:latin typeface="Arial"/>
              </a:rPr>
              <a:t>　オノマトペ</a:t>
            </a:r>
            <a:r>
              <a:rPr b="0" lang="en-US" sz="2000" spc="-1" strike="noStrike">
                <a:solidFill>
                  <a:srgbClr val="000000"/>
                </a:solidFill>
                <a:latin typeface="Arial"/>
              </a:rPr>
              <a:t>――</a:t>
            </a:r>
            <a:r>
              <a:rPr b="0" lang="ja-JP" sz="2000" spc="-1" strike="noStrike">
                <a:solidFill>
                  <a:srgbClr val="000000"/>
                </a:solidFill>
                <a:latin typeface="Arial"/>
              </a:rPr>
              <a:t>擬音語・擬態語を除く</a:t>
            </a:r>
            <a:r>
              <a:rPr b="0" lang="en-US" sz="2000" spc="-1" strike="noStrike">
                <a:solidFill>
                  <a:srgbClr val="000000"/>
                </a:solidFill>
                <a:latin typeface="Arial"/>
              </a:rPr>
              <a:t>――</a:t>
            </a:r>
            <a:r>
              <a:rPr b="0" lang="ja-JP" sz="2800" spc="-1" strike="noStrike">
                <a:solidFill>
                  <a:srgbClr val="000000"/>
                </a:solidFill>
                <a:latin typeface="Arial"/>
              </a:rPr>
              <a:t>は例外</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74320"/>
            <a:ext cx="822960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4400" spc="-1" strike="noStrike">
                <a:solidFill>
                  <a:srgbClr val="000000"/>
                </a:solidFill>
                <a:latin typeface="Arial"/>
              </a:rPr>
              <a:t>言語表現の二重分節性</a:t>
            </a:r>
            <a:endParaRPr b="0" lang="en-US" sz="4400" spc="-1" strike="noStrike">
              <a:solidFill>
                <a:srgbClr val="000000"/>
              </a:solidFill>
              <a:latin typeface="Arial"/>
            </a:endParaRPr>
          </a:p>
        </p:txBody>
      </p:sp>
      <p:sp>
        <p:nvSpPr>
          <p:cNvPr id="9" name="PlaceHolder 2"/>
          <p:cNvSpPr>
            <a:spLocks noGrp="1"/>
          </p:cNvSpPr>
          <p:nvPr>
            <p:ph/>
          </p:nvPr>
        </p:nvSpPr>
        <p:spPr>
          <a:xfrm>
            <a:off x="456840" y="1600200"/>
            <a:ext cx="8435880" cy="3773520"/>
          </a:xfrm>
          <a:prstGeom prst="rect">
            <a:avLst/>
          </a:prstGeom>
          <a:noFill/>
          <a:ln w="0">
            <a:noFill/>
          </a:ln>
        </p:spPr>
        <p:txBody>
          <a:bodyPr lIns="91440" rIns="91440" tIns="45720" bIns="45720" anchor="t">
            <a:normAutofit/>
          </a:bodyPr>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第一の分節：</a:t>
            </a:r>
            <a:endParaRPr b="0" lang="en-US" sz="2800" spc="-1" strike="noStrike">
              <a:solidFill>
                <a:srgbClr val="000000"/>
              </a:solidFill>
              <a:latin typeface="Arial"/>
            </a:endParaRPr>
          </a:p>
          <a:p>
            <a:pPr marL="343080" indent="0">
              <a:spcBef>
                <a:spcPts val="24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pc="-1" strike="noStrike">
              <a:solidFill>
                <a:srgbClr val="000000"/>
              </a:solidFill>
              <a:latin typeface="Arial"/>
            </a:endParaRPr>
          </a:p>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   </a:t>
            </a:r>
            <a:r>
              <a:rPr b="0" lang="ja-JP" sz="2800" spc="-1" strike="noStrike">
                <a:solidFill>
                  <a:srgbClr val="000000"/>
                </a:solidFill>
                <a:latin typeface="Arial"/>
              </a:rPr>
              <a:t>ひと／だけ／が／ことば／を／もっ／て／いる。</a:t>
            </a:r>
            <a:endParaRPr b="0" lang="en-US" sz="2800" spc="-1" strike="noStrike">
              <a:solidFill>
                <a:srgbClr val="000000"/>
              </a:solidFill>
              <a:latin typeface="Arial"/>
            </a:endParaRPr>
          </a:p>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第二の分節：子音・母音</a:t>
            </a:r>
            <a:endParaRPr b="0" lang="en-US" sz="2800" spc="-1" strike="noStrike">
              <a:solidFill>
                <a:srgbClr val="000000"/>
              </a:solidFill>
              <a:latin typeface="Arial"/>
            </a:endParaRPr>
          </a:p>
          <a:p>
            <a:pPr marL="343080" indent="0">
              <a:spcBef>
                <a:spcPts val="24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pc="-1" strike="noStrike">
              <a:solidFill>
                <a:srgbClr val="000000"/>
              </a:solidFill>
              <a:latin typeface="Arial"/>
            </a:endParaRPr>
          </a:p>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　 </a:t>
            </a:r>
            <a:r>
              <a:rPr b="0" lang="en-US" sz="2800" spc="-1" strike="noStrike">
                <a:solidFill>
                  <a:srgbClr val="000000"/>
                </a:solidFill>
                <a:latin typeface="Arial"/>
              </a:rPr>
              <a:t>hito dake ga hotoba wo motte iru.</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320"/>
            <a:ext cx="822960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4400" spc="-1" strike="noStrike">
                <a:solidFill>
                  <a:srgbClr val="000000"/>
                </a:solidFill>
                <a:latin typeface="Arial"/>
              </a:rPr>
              <a:t>音声器官</a:t>
            </a:r>
            <a:endParaRPr b="0" lang="en-US" sz="4400" spc="-1" strike="noStrike">
              <a:solidFill>
                <a:srgbClr val="000000"/>
              </a:solidFill>
              <a:latin typeface="Arial"/>
            </a:endParaRPr>
          </a:p>
        </p:txBody>
      </p:sp>
      <p:sp>
        <p:nvSpPr>
          <p:cNvPr id="11" name="PlaceHolder 2"/>
          <p:cNvSpPr>
            <a:spLocks noGrp="1"/>
          </p:cNvSpPr>
          <p:nvPr>
            <p:ph/>
          </p:nvPr>
        </p:nvSpPr>
        <p:spPr>
          <a:xfrm>
            <a:off x="457200" y="1600200"/>
            <a:ext cx="8229600" cy="4525920"/>
          </a:xfrm>
          <a:prstGeom prst="rect">
            <a:avLst/>
          </a:prstGeom>
          <a:noFill/>
          <a:ln w="0">
            <a:noFill/>
          </a:ln>
        </p:spPr>
        <p:txBody>
          <a:bodyPr lIns="91440" rIns="91440" tIns="45720" bIns="45720"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ja-JP" sz="3200" spc="-1" strike="noStrike">
                <a:solidFill>
                  <a:srgbClr val="000000"/>
                </a:solidFill>
                <a:latin typeface="Arial"/>
              </a:rPr>
              <a:t>音声器官は発声器官、調音器官などともいわれ、鼻、　鼻腔、唇、口腔、歯、歯茎、舌、硬口蓋、軟口蓋、咽頭、喉頭、声帯、気管、気管支、肺などからなっている。</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zh-CN" sz="4400" spc="-1" strike="noStrike">
              <a:solidFill>
                <a:srgbClr val="000000"/>
              </a:solidFill>
              <a:latin typeface="Arial"/>
            </a:endParaRPr>
          </a:p>
        </p:txBody>
      </p:sp>
      <p:sp>
        <p:nvSpPr>
          <p:cNvPr id="1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zh-CN" sz="3200" spc="-1" strike="noStrike">
              <a:solidFill>
                <a:srgbClr val="000000"/>
              </a:solidFill>
              <a:latin typeface="Arial"/>
            </a:endParaRPr>
          </a:p>
        </p:txBody>
      </p:sp>
      <p:pic>
        <p:nvPicPr>
          <p:cNvPr id="14" name="Picture 4" descr=""/>
          <p:cNvPicPr/>
          <p:nvPr/>
        </p:nvPicPr>
        <p:blipFill>
          <a:blip r:embed="rId1"/>
          <a:stretch/>
        </p:blipFill>
        <p:spPr>
          <a:xfrm>
            <a:off x="0" y="260280"/>
            <a:ext cx="9123480" cy="608328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zh-CN" sz="4400" spc="-1" strike="noStrike">
              <a:solidFill>
                <a:srgbClr val="000000"/>
              </a:solidFill>
              <a:latin typeface="Arial"/>
            </a:endParaRPr>
          </a:p>
        </p:txBody>
      </p:sp>
      <p:sp>
        <p:nvSpPr>
          <p:cNvPr id="16"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zh-CN" sz="3200" spc="-1" strike="noStrike">
              <a:solidFill>
                <a:srgbClr val="000000"/>
              </a:solidFill>
              <a:latin typeface="Arial"/>
            </a:endParaRPr>
          </a:p>
        </p:txBody>
      </p:sp>
      <p:pic>
        <p:nvPicPr>
          <p:cNvPr id="17" name="Picture 4" descr=""/>
          <p:cNvPicPr/>
          <p:nvPr/>
        </p:nvPicPr>
        <p:blipFill>
          <a:blip r:embed="rId1"/>
          <a:stretch/>
        </p:blipFill>
        <p:spPr>
          <a:xfrm>
            <a:off x="324000" y="236520"/>
            <a:ext cx="8640720" cy="649296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4320"/>
            <a:ext cx="822960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4400" spc="-1" strike="noStrike">
                <a:solidFill>
                  <a:srgbClr val="000000"/>
                </a:solidFill>
                <a:latin typeface="Arial"/>
              </a:rPr>
              <a:t>調音点</a:t>
            </a:r>
            <a:endParaRPr b="0" lang="en-US" sz="4400" spc="-1" strike="noStrike">
              <a:solidFill>
                <a:srgbClr val="000000"/>
              </a:solidFill>
              <a:latin typeface="Arial"/>
            </a:endParaRPr>
          </a:p>
        </p:txBody>
      </p:sp>
      <p:sp>
        <p:nvSpPr>
          <p:cNvPr id="19" name="PlaceHolder 2"/>
          <p:cNvSpPr>
            <a:spLocks noGrp="1"/>
          </p:cNvSpPr>
          <p:nvPr>
            <p:ph/>
          </p:nvPr>
        </p:nvSpPr>
        <p:spPr>
          <a:xfrm>
            <a:off x="179280" y="1484280"/>
            <a:ext cx="8785440" cy="3773520"/>
          </a:xfrm>
          <a:prstGeom prst="rect">
            <a:avLst/>
          </a:prstGeom>
          <a:noFill/>
          <a:ln w="0">
            <a:noFill/>
          </a:ln>
        </p:spPr>
        <p:txBody>
          <a:bodyPr lIns="91440" rIns="91440" tIns="45720" bIns="45720" anchor="t">
            <a:normAutofit/>
          </a:bodyPr>
          <a:p>
            <a:pPr marL="343080" indent="-343080">
              <a:lnSpc>
                <a:spcPct val="90000"/>
              </a:lnSpc>
              <a:spcBef>
                <a:spcPts val="700"/>
              </a:spcBef>
              <a:buClr>
                <a:srgbClr val="c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ja-JP" sz="2800" spc="-1" strike="noStrike">
                <a:solidFill>
                  <a:srgbClr val="c00000"/>
                </a:solidFill>
                <a:latin typeface="Arial"/>
              </a:rPr>
              <a:t>調音点</a:t>
            </a:r>
            <a:r>
              <a:rPr b="1" lang="ja-JP" sz="2800" spc="-1" strike="noStrike">
                <a:solidFill>
                  <a:srgbClr val="000000"/>
                </a:solidFill>
                <a:latin typeface="Arial"/>
              </a:rPr>
              <a:t>：子音が発せられるとき、遮られる口腔内の位置を言う。</a:t>
            </a:r>
            <a:endParaRPr b="0" lang="en-US" sz="2800" spc="-1" strike="noStrike">
              <a:solidFill>
                <a:srgbClr val="000000"/>
              </a:solidFill>
              <a:latin typeface="Arial"/>
            </a:endParaRPr>
          </a:p>
          <a:p>
            <a:pPr marL="343080" indent="0">
              <a:lnSpc>
                <a:spcPct val="9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a:p>
            <a:pPr marL="343080" indent="-34308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ja-JP" sz="2800" spc="-1" strike="noStrike">
                <a:solidFill>
                  <a:srgbClr val="000000"/>
                </a:solidFill>
                <a:latin typeface="Arial"/>
              </a:rPr>
              <a:t>声帯を通ってきた有声音、無声音（声帯の振動を伴わない音）は音声器官のいろいろな働きをによってさまざまな音色を伴う音声となるが、その発声の位置を決めるときは、一般</a:t>
            </a:r>
            <a:r>
              <a:rPr b="1" lang="ja-JP" sz="2800" spc="-1" strike="noStrike">
                <a:solidFill>
                  <a:srgbClr val="c00000"/>
                </a:solidFill>
                <a:latin typeface="Arial"/>
              </a:rPr>
              <a:t>にあまり動かない音声器官（</a:t>
            </a:r>
            <a:r>
              <a:rPr b="1" lang="ja-JP" sz="2800" spc="-1" strike="noStrike">
                <a:solidFill>
                  <a:srgbClr val="000000"/>
                </a:solidFill>
                <a:latin typeface="Arial"/>
              </a:rPr>
              <a:t>上唇、上の歯、硬口蓋）の</a:t>
            </a:r>
            <a:r>
              <a:rPr b="1" lang="ja-JP" sz="2800" spc="-1" strike="noStrike">
                <a:solidFill>
                  <a:srgbClr val="c00000"/>
                </a:solidFill>
                <a:latin typeface="Arial"/>
              </a:rPr>
              <a:t>位置</a:t>
            </a:r>
            <a:r>
              <a:rPr b="1" lang="ja-JP" sz="2800" spc="-1" strike="noStrike">
                <a:solidFill>
                  <a:srgbClr val="000000"/>
                </a:solidFill>
                <a:latin typeface="Arial"/>
              </a:rPr>
              <a:t>を基準とし、その位置を調音点という。</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zh-CN" sz="4400" spc="-1" strike="noStrike">
              <a:solidFill>
                <a:srgbClr val="000000"/>
              </a:solidFill>
              <a:latin typeface="Arial"/>
            </a:endParaRPr>
          </a:p>
        </p:txBody>
      </p:sp>
      <p:sp>
        <p:nvSpPr>
          <p:cNvPr id="21" name="PlaceHolder 2"/>
          <p:cNvSpPr>
            <a:spLocks noGrp="1"/>
          </p:cNvSpPr>
          <p:nvPr>
            <p:ph/>
          </p:nvPr>
        </p:nvSpPr>
        <p:spPr>
          <a:xfrm>
            <a:off x="250560" y="1628640"/>
            <a:ext cx="8507160" cy="4525920"/>
          </a:xfrm>
          <a:prstGeom prst="rect">
            <a:avLst/>
          </a:prstGeom>
          <a:noFill/>
          <a:ln w="0">
            <a:noFill/>
          </a:ln>
        </p:spPr>
        <p:txBody>
          <a:bodyPr lIns="91440" rIns="91440" tIns="45720" bIns="45720" anchor="t">
            <a:normAutofit/>
          </a:bodyPr>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2800" spc="-1" strike="noStrike">
                <a:solidFill>
                  <a:srgbClr val="c00000"/>
                </a:solidFill>
                <a:latin typeface="Arial"/>
              </a:rPr>
              <a:t>調音者</a:t>
            </a:r>
            <a:r>
              <a:rPr b="1" lang="ja-JP" sz="2800" spc="-1" strike="noStrike">
                <a:solidFill>
                  <a:srgbClr val="000000"/>
                </a:solidFill>
                <a:latin typeface="Arial"/>
              </a:rPr>
              <a:t>：</a:t>
            </a:r>
            <a:endParaRPr b="0" lang="en-US" sz="2800" spc="-1" strike="noStrike">
              <a:solidFill>
                <a:srgbClr val="000000"/>
              </a:solidFill>
              <a:latin typeface="Arial"/>
            </a:endParaRPr>
          </a:p>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2800" spc="-1" strike="noStrike">
                <a:solidFill>
                  <a:srgbClr val="000000"/>
                </a:solidFill>
                <a:latin typeface="Arial"/>
              </a:rPr>
              <a:t>　</a:t>
            </a:r>
            <a:r>
              <a:rPr b="1" lang="ja-JP" sz="2800" spc="-1" strike="noStrike">
                <a:solidFill>
                  <a:srgbClr val="c00000"/>
                </a:solidFill>
                <a:latin typeface="Arial"/>
              </a:rPr>
              <a:t> 比較的動きやすい</a:t>
            </a:r>
            <a:r>
              <a:rPr b="1" lang="ja-JP" sz="2800" spc="-1" strike="noStrike">
                <a:solidFill>
                  <a:srgbClr val="000000"/>
                </a:solidFill>
                <a:latin typeface="Arial"/>
              </a:rPr>
              <a:t>下の部分、下唇、下の歯、舌などを調音者という。（調音者</a:t>
            </a:r>
            <a:r>
              <a:rPr b="1" lang="en-US" sz="2800" spc="-1" strike="noStrike">
                <a:solidFill>
                  <a:srgbClr val="000000"/>
                </a:solidFill>
                <a:latin typeface="Arial"/>
              </a:rPr>
              <a:t>articulators. </a:t>
            </a:r>
            <a:r>
              <a:rPr b="1" lang="ja-JP" sz="2800" spc="-1" strike="noStrike">
                <a:solidFill>
                  <a:srgbClr val="000000"/>
                </a:solidFill>
                <a:latin typeface="Arial"/>
              </a:rPr>
              <a:t>調音において接近・接触する側の調音体。</a:t>
            </a:r>
            <a:r>
              <a:rPr b="1" lang="ja-JP" sz="2800" spc="-1" strike="noStrike">
                <a:solidFill>
                  <a:srgbClr val="c00000"/>
                </a:solidFill>
                <a:latin typeface="Arial"/>
              </a:rPr>
              <a:t> 基本的に下顎部</a:t>
            </a:r>
            <a:r>
              <a:rPr b="1" lang="ja-JP" sz="2800" spc="-1" strike="noStrike">
                <a:solidFill>
                  <a:srgbClr val="000000"/>
                </a:solidFill>
                <a:latin typeface="Arial"/>
              </a:rPr>
              <a:t>に属する部位をいう。</a:t>
            </a:r>
            <a:r>
              <a:rPr b="0" lang="ja-JP" sz="2800" spc="-1" strike="noStrike">
                <a:solidFill>
                  <a:srgbClr val="000000"/>
                </a:solidFill>
                <a:latin typeface="Arial"/>
              </a:rPr>
              <a:t> </a:t>
            </a:r>
            <a:r>
              <a:rPr b="1" lang="ja-JP" sz="2800" spc="-1" strike="noStrike">
                <a:solidFill>
                  <a:srgbClr val="000000"/>
                </a:solidFill>
                <a:latin typeface="Arial"/>
              </a:rPr>
              <a:t>）</a:t>
            </a:r>
            <a:endParaRPr b="0" lang="en-US" sz="2800" spc="-1" strike="noStrike">
              <a:solidFill>
                <a:srgbClr val="000000"/>
              </a:solidFill>
              <a:latin typeface="Arial"/>
            </a:endParaRPr>
          </a:p>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2800" spc="-1" strike="noStrike">
                <a:solidFill>
                  <a:srgbClr val="c00000"/>
                </a:solidFill>
                <a:latin typeface="Arial"/>
              </a:rPr>
              <a:t>調音法</a:t>
            </a:r>
            <a:r>
              <a:rPr b="1" lang="ja-JP" sz="2800" spc="-1" strike="noStrike">
                <a:solidFill>
                  <a:srgbClr val="000000"/>
                </a:solidFill>
                <a:latin typeface="Arial"/>
              </a:rPr>
              <a:t>：</a:t>
            </a:r>
            <a:endParaRPr b="0" lang="en-US" sz="2800" spc="-1" strike="noStrike">
              <a:solidFill>
                <a:srgbClr val="000000"/>
              </a:solidFill>
              <a:latin typeface="Arial"/>
            </a:endParaRPr>
          </a:p>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2800" spc="-1" strike="noStrike">
                <a:solidFill>
                  <a:srgbClr val="000000"/>
                </a:solidFill>
                <a:latin typeface="Arial"/>
              </a:rPr>
              <a:t>   </a:t>
            </a:r>
            <a:r>
              <a:rPr b="1" lang="ja-JP" sz="2800" spc="-1" strike="noStrike">
                <a:solidFill>
                  <a:srgbClr val="000000"/>
                </a:solidFill>
                <a:latin typeface="Arial"/>
              </a:rPr>
              <a:t>調音点と調音者で形づくる障害（閉鎖、狭「せば」め）の方法を調音法という。</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4320"/>
            <a:ext cx="8229600" cy="85068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4400" spc="-1" strike="noStrike">
                <a:solidFill>
                  <a:srgbClr val="000000"/>
                </a:solidFill>
                <a:latin typeface="Arial"/>
              </a:rPr>
              <a:t>子音、母音、半母音（音素）</a:t>
            </a:r>
            <a:endParaRPr b="0" lang="en-US" sz="4400" spc="-1" strike="noStrike">
              <a:solidFill>
                <a:srgbClr val="000000"/>
              </a:solidFill>
              <a:latin typeface="Arial"/>
            </a:endParaRPr>
          </a:p>
        </p:txBody>
      </p:sp>
      <p:sp>
        <p:nvSpPr>
          <p:cNvPr id="23" name="PlaceHolder 2"/>
          <p:cNvSpPr>
            <a:spLocks noGrp="1"/>
          </p:cNvSpPr>
          <p:nvPr>
            <p:ph/>
          </p:nvPr>
        </p:nvSpPr>
        <p:spPr>
          <a:xfrm>
            <a:off x="250920" y="1413000"/>
            <a:ext cx="8642160" cy="5184720"/>
          </a:xfrm>
          <a:prstGeom prst="rect">
            <a:avLst/>
          </a:prstGeom>
          <a:noFill/>
          <a:ln w="0">
            <a:noFill/>
          </a:ln>
        </p:spPr>
        <p:txBody>
          <a:bodyPr lIns="91440" rIns="91440" tIns="45720" bIns="45720" anchor="t">
            <a:normAutofit/>
          </a:bodyPr>
          <a:p>
            <a:pPr marL="343080" indent="-34308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ja-JP" sz="2800" spc="-1" strike="noStrike">
                <a:solidFill>
                  <a:srgbClr val="000000"/>
                </a:solidFill>
                <a:latin typeface="Arial"/>
              </a:rPr>
              <a:t>調音音声学的に音声を大きく三つに分類できる。</a:t>
            </a:r>
            <a:endParaRPr b="0" lang="en-US" sz="2800" spc="-1" strike="noStrike">
              <a:solidFill>
                <a:srgbClr val="000000"/>
              </a:solidFill>
              <a:latin typeface="Arial"/>
            </a:endParaRPr>
          </a:p>
          <a:p>
            <a:pPr marL="343080" indent="0">
              <a:lnSpc>
                <a:spcPct val="9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800" spc="-1" strike="noStrike">
                <a:solidFill>
                  <a:srgbClr val="000000"/>
                </a:solidFill>
                <a:latin typeface="Arial"/>
              </a:rPr>
              <a:t>1</a:t>
            </a:r>
            <a:r>
              <a:rPr b="1" lang="ja-JP" sz="2800" spc="-1" strike="noStrike">
                <a:solidFill>
                  <a:srgbClr val="000000"/>
                </a:solidFill>
                <a:latin typeface="Arial"/>
              </a:rPr>
              <a:t>．</a:t>
            </a:r>
            <a:r>
              <a:rPr b="1" lang="ja-JP" sz="2800" spc="-1" strike="noStrike">
                <a:solidFill>
                  <a:srgbClr val="c00000"/>
                </a:solidFill>
                <a:latin typeface="Arial"/>
              </a:rPr>
              <a:t>母音</a:t>
            </a:r>
            <a:r>
              <a:rPr b="1" lang="ja-JP" sz="2800" spc="-1" strike="noStrike">
                <a:solidFill>
                  <a:srgbClr val="000000"/>
                </a:solidFill>
                <a:latin typeface="Arial"/>
              </a:rPr>
              <a:t>　声道内に閉鎖や狭めがなく、声帯の振動を伴う有声音が自由に響きよく発せられる音。</a:t>
            </a:r>
            <a:endParaRPr b="0" lang="en-US" sz="2800" spc="-1" strike="noStrike">
              <a:solidFill>
                <a:srgbClr val="000000"/>
              </a:solidFill>
              <a:latin typeface="Arial"/>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2800" spc="-1" strike="noStrike">
                <a:solidFill>
                  <a:srgbClr val="000000"/>
                </a:solidFill>
                <a:latin typeface="Arial"/>
              </a:rPr>
              <a:t>　　</a:t>
            </a:r>
            <a:r>
              <a:rPr b="1" lang="en-US" sz="2800" spc="-1" strike="noStrike">
                <a:solidFill>
                  <a:srgbClr val="000000"/>
                </a:solidFill>
                <a:latin typeface="Arial"/>
              </a:rPr>
              <a:t>/a/ /i/ /u/ /e/ /o/</a:t>
            </a:r>
            <a:endParaRPr b="0" lang="en-US" sz="2800" spc="-1" strike="noStrike">
              <a:solidFill>
                <a:srgbClr val="000000"/>
              </a:solidFill>
              <a:latin typeface="Arial"/>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2800" spc="-1" strike="noStrike">
                <a:solidFill>
                  <a:srgbClr val="000000"/>
                </a:solidFill>
                <a:latin typeface="Arial"/>
              </a:rPr>
              <a:t>２．</a:t>
            </a:r>
            <a:r>
              <a:rPr b="1" lang="ja-JP" sz="2800" spc="-1" strike="noStrike">
                <a:solidFill>
                  <a:srgbClr val="c00000"/>
                </a:solidFill>
                <a:latin typeface="Arial"/>
              </a:rPr>
              <a:t>子音</a:t>
            </a:r>
            <a:r>
              <a:rPr b="1" lang="ja-JP" sz="2800" spc="-1" strike="noStrike">
                <a:solidFill>
                  <a:srgbClr val="000000"/>
                </a:solidFill>
                <a:latin typeface="Arial"/>
              </a:rPr>
              <a:t>　声道内に閉鎖や狭めの障害により作られる音。</a:t>
            </a:r>
            <a:r>
              <a:rPr b="1" lang="en-US" sz="2800" spc="-1" strike="noStrike">
                <a:solidFill>
                  <a:srgbClr val="000000"/>
                </a:solidFill>
                <a:latin typeface="Arial"/>
              </a:rPr>
              <a:t>/’/</a:t>
            </a:r>
            <a:r>
              <a:rPr b="1" lang="ja-JP" sz="2800" spc="-1" strike="noStrike">
                <a:solidFill>
                  <a:srgbClr val="000000"/>
                </a:solidFill>
                <a:latin typeface="Arial"/>
              </a:rPr>
              <a:t>　</a:t>
            </a:r>
            <a:r>
              <a:rPr b="1" lang="en-US" sz="2800" spc="-1" strike="noStrike">
                <a:solidFill>
                  <a:srgbClr val="000000"/>
                </a:solidFill>
                <a:latin typeface="Arial"/>
              </a:rPr>
              <a:t>/k/ /g/ /s/ /z/</a:t>
            </a:r>
            <a:r>
              <a:rPr b="1" lang="ja-JP" sz="2800" spc="-1" strike="noStrike">
                <a:solidFill>
                  <a:srgbClr val="000000"/>
                </a:solidFill>
                <a:latin typeface="Arial"/>
              </a:rPr>
              <a:t>　・・・・・・</a:t>
            </a:r>
            <a:endParaRPr b="0" lang="en-US" sz="2800" spc="-1" strike="noStrike">
              <a:solidFill>
                <a:srgbClr val="000000"/>
              </a:solidFill>
              <a:latin typeface="Arial"/>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2800" spc="-1" strike="noStrike">
                <a:solidFill>
                  <a:srgbClr val="000000"/>
                </a:solidFill>
                <a:latin typeface="Arial"/>
              </a:rPr>
              <a:t>３．</a:t>
            </a:r>
            <a:r>
              <a:rPr b="1" lang="ja-JP" sz="2800" spc="-1" strike="noStrike">
                <a:solidFill>
                  <a:srgbClr val="c00000"/>
                </a:solidFill>
                <a:latin typeface="Arial"/>
              </a:rPr>
              <a:t>半母音</a:t>
            </a:r>
            <a:r>
              <a:rPr b="1" lang="ja-JP" sz="2800" spc="-1" strike="noStrike">
                <a:solidFill>
                  <a:srgbClr val="000000"/>
                </a:solidFill>
                <a:latin typeface="Arial"/>
              </a:rPr>
              <a:t>　母音によく似た有声音だが、わずかながら声道内の狭めを伴ったり、持続時間が短かったりする。母音と子音の中間的音とも考えられる。</a:t>
            </a:r>
            <a:r>
              <a:rPr b="1" lang="en-US" sz="2800" spc="-1" strike="noStrike">
                <a:solidFill>
                  <a:srgbClr val="000000"/>
                </a:solidFill>
                <a:latin typeface="Arial"/>
              </a:rPr>
              <a:t>/j/ /w/</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320"/>
            <a:ext cx="822960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4400" spc="-1" strike="noStrike">
                <a:solidFill>
                  <a:srgbClr val="000000"/>
                </a:solidFill>
                <a:latin typeface="Arial"/>
              </a:rPr>
              <a:t>日本語の子音の調音位置</a:t>
            </a:r>
            <a:endParaRPr b="0" lang="en-US" sz="4400" spc="-1" strike="noStrike">
              <a:solidFill>
                <a:srgbClr val="000000"/>
              </a:solidFill>
              <a:latin typeface="Arial"/>
            </a:endParaRPr>
          </a:p>
        </p:txBody>
      </p:sp>
      <p:pic>
        <p:nvPicPr>
          <p:cNvPr id="25" name="Picture 4" descr=""/>
          <p:cNvPicPr/>
          <p:nvPr/>
        </p:nvPicPr>
        <p:blipFill>
          <a:blip r:embed="rId1"/>
          <a:stretch/>
        </p:blipFill>
        <p:spPr>
          <a:xfrm>
            <a:off x="1979640" y="0"/>
            <a:ext cx="5317920" cy="674532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zh-CN" sz="4400" spc="-1" strike="noStrike">
              <a:solidFill>
                <a:srgbClr val="000000"/>
              </a:solidFill>
              <a:latin typeface="Arial"/>
            </a:endParaRPr>
          </a:p>
        </p:txBody>
      </p:sp>
      <p:sp>
        <p:nvSpPr>
          <p:cNvPr id="27" name="PlaceHolder 2"/>
          <p:cNvSpPr>
            <a:spLocks noGrp="1"/>
          </p:cNvSpPr>
          <p:nvPr>
            <p:ph/>
          </p:nvPr>
        </p:nvSpPr>
        <p:spPr>
          <a:xfrm>
            <a:off x="250560" y="1600200"/>
            <a:ext cx="8435880" cy="4525920"/>
          </a:xfrm>
          <a:prstGeom prst="rect">
            <a:avLst/>
          </a:prstGeom>
          <a:noFill/>
          <a:ln w="0">
            <a:noFill/>
          </a:ln>
        </p:spPr>
        <p:txBody>
          <a:bodyPr lIns="91440" rIns="91440" tIns="45720" bIns="45720" anchor="t">
            <a:normAutofit/>
          </a:bodyPr>
          <a:p>
            <a:pPr marL="343080" indent="-343080">
              <a:lnSpc>
                <a:spcPct val="90000"/>
              </a:lnSpc>
              <a:spcBef>
                <a:spcPts val="700"/>
              </a:spcBef>
              <a:buClr>
                <a:srgbClr val="000c0c"/>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ja-JP" sz="2800" spc="-1" strike="noStrike">
                <a:solidFill>
                  <a:srgbClr val="000c0c"/>
                </a:solidFill>
                <a:latin typeface="Arial"/>
              </a:rPr>
              <a:t>（一）</a:t>
            </a:r>
            <a:r>
              <a:rPr b="1" lang="zh-CN" sz="2800" spc="-1" strike="noStrike">
                <a:solidFill>
                  <a:srgbClr val="c00000"/>
                </a:solidFill>
                <a:latin typeface="Arial"/>
              </a:rPr>
              <a:t>音声</a:t>
            </a:r>
            <a:r>
              <a:rPr b="1" lang="zh-CN" sz="2800" spc="-1" strike="noStrike">
                <a:solidFill>
                  <a:srgbClr val="000c0c"/>
                </a:solidFill>
                <a:latin typeface="Arial"/>
              </a:rPr>
              <a:t>（おんせい）とは</a:t>
            </a:r>
            <a:r>
              <a:rPr b="1" lang="ja-JP" sz="2800" spc="-1" strike="noStrike">
                <a:solidFill>
                  <a:srgbClr val="000c0c"/>
                </a:solidFill>
                <a:latin typeface="Arial"/>
              </a:rPr>
              <a:t>人間がコミュニケーションのために、発音器官を使って、発する音である。</a:t>
            </a:r>
            <a:r>
              <a:rPr b="1" lang="en-US" sz="2800" spc="-1" strike="noStrike">
                <a:solidFill>
                  <a:srgbClr val="000c0c"/>
                </a:solidFill>
                <a:latin typeface="Arial"/>
              </a:rPr>
              <a:t>(</a:t>
            </a:r>
            <a:r>
              <a:rPr b="1" lang="ja-JP" sz="2800" spc="-1" strike="noStrike">
                <a:solidFill>
                  <a:srgbClr val="000c0c"/>
                </a:solidFill>
                <a:latin typeface="Arial"/>
              </a:rPr>
              <a:t>国語辞典による</a:t>
            </a:r>
            <a:r>
              <a:rPr b="1" lang="en-US" sz="2800" spc="-1" strike="noStrike">
                <a:solidFill>
                  <a:srgbClr val="000c0c"/>
                </a:solidFill>
                <a:latin typeface="Arial"/>
              </a:rPr>
              <a:t>)</a:t>
            </a:r>
            <a:r>
              <a:rPr b="1" lang="ja-JP" sz="2800" spc="-1" strike="noStrike">
                <a:solidFill>
                  <a:srgbClr val="000c0c"/>
                </a:solidFill>
                <a:latin typeface="Arial"/>
              </a:rPr>
              <a:t>もっと詳しく分けると、言語音と非言語音を分けることが出来る。</a:t>
            </a:r>
            <a:endParaRPr b="0" lang="en-US" sz="2800" spc="-1" strike="noStrike">
              <a:solidFill>
                <a:srgbClr val="000000"/>
              </a:solidFill>
              <a:latin typeface="Arial"/>
            </a:endParaRPr>
          </a:p>
          <a:p>
            <a:pPr marL="343080" indent="0">
              <a:lnSpc>
                <a:spcPct val="9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2800" spc="-1" strike="noStrike">
                <a:solidFill>
                  <a:srgbClr val="000c0c"/>
                </a:solidFill>
                <a:latin typeface="Arial"/>
              </a:rPr>
              <a:t>        </a:t>
            </a:r>
            <a:r>
              <a:rPr b="1" lang="ja-JP" sz="2800" spc="-1" strike="noStrike">
                <a:solidFill>
                  <a:srgbClr val="000c0c"/>
                </a:solidFill>
                <a:latin typeface="Arial"/>
              </a:rPr>
              <a:t>人間は思想、感情、意思などを伝達する場合、主として言葉を用いるが、言葉による伝達は音声または文字を介して行われる。この音声と文字を比較するとき、より基本的なものは音声であって文字ではない。</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zh-CN" sz="4400" spc="-1" strike="noStrike">
              <a:solidFill>
                <a:srgbClr val="000000"/>
              </a:solidFill>
              <a:latin typeface="Arial"/>
            </a:endParaRPr>
          </a:p>
        </p:txBody>
      </p:sp>
      <p:sp>
        <p:nvSpPr>
          <p:cNvPr id="29" name="PlaceHolder 2"/>
          <p:cNvSpPr>
            <a:spLocks noGrp="1"/>
          </p:cNvSpPr>
          <p:nvPr>
            <p:ph/>
          </p:nvPr>
        </p:nvSpPr>
        <p:spPr>
          <a:xfrm>
            <a:off x="457200" y="1600200"/>
            <a:ext cx="8229600" cy="4525920"/>
          </a:xfrm>
          <a:prstGeom prst="rect">
            <a:avLst/>
          </a:prstGeom>
          <a:noFill/>
          <a:ln w="0">
            <a:noFill/>
          </a:ln>
        </p:spPr>
        <p:txBody>
          <a:bodyPr lIns="91440" rIns="91440" tIns="45720" bIns="45720" anchor="t">
            <a:normAutofit/>
          </a:bodyPr>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2800" spc="-1" strike="noStrike">
                <a:solidFill>
                  <a:srgbClr val="c00000"/>
                </a:solidFill>
                <a:latin typeface="Arial"/>
              </a:rPr>
              <a:t>文字</a:t>
            </a:r>
            <a:r>
              <a:rPr b="1" lang="ja-JP" sz="2800" spc="-1" strike="noStrike">
                <a:solidFill>
                  <a:srgbClr val="000c0c"/>
                </a:solidFill>
                <a:latin typeface="Arial"/>
              </a:rPr>
              <a:t>はあくまで音を記号化したもので第二義的な手段である。</a:t>
            </a:r>
            <a:endParaRPr b="0" lang="en-US" sz="2800" spc="-1" strike="noStrike">
              <a:solidFill>
                <a:srgbClr val="000000"/>
              </a:solidFill>
              <a:latin typeface="Arial"/>
            </a:endParaRPr>
          </a:p>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2800" spc="-1" strike="noStrike">
                <a:solidFill>
                  <a:srgbClr val="000c0c"/>
                </a:solidFill>
                <a:latin typeface="Arial"/>
              </a:rPr>
              <a:t>「こんにちは」と静かにしろという意味で発する「シーッ」との区別？</a:t>
            </a:r>
            <a:endParaRPr b="0" lang="en-US" sz="2800" spc="-1" strike="noStrike">
              <a:solidFill>
                <a:srgbClr val="000000"/>
              </a:solidFill>
              <a:latin typeface="Arial"/>
            </a:endParaRPr>
          </a:p>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zh-CN" sz="4400" spc="-1" strike="noStrike">
              <a:solidFill>
                <a:srgbClr val="000000"/>
              </a:solidFill>
              <a:latin typeface="Arial"/>
            </a:endParaRPr>
          </a:p>
        </p:txBody>
      </p:sp>
      <p:sp>
        <p:nvSpPr>
          <p:cNvPr id="31" name="PlaceHolder 2"/>
          <p:cNvSpPr>
            <a:spLocks noGrp="1"/>
          </p:cNvSpPr>
          <p:nvPr>
            <p:ph/>
          </p:nvPr>
        </p:nvSpPr>
        <p:spPr>
          <a:xfrm>
            <a:off x="324000" y="1628640"/>
            <a:ext cx="8434080" cy="4525920"/>
          </a:xfrm>
          <a:prstGeom prst="rect">
            <a:avLst/>
          </a:prstGeom>
          <a:noFill/>
          <a:ln w="0">
            <a:noFill/>
          </a:ln>
        </p:spPr>
        <p:txBody>
          <a:bodyPr lIns="91440" rIns="91440" tIns="45720" bIns="45720" anchor="t">
            <a:normAutofit/>
          </a:bodyPr>
          <a:p>
            <a:pPr marL="343080" indent="-34308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ja-JP" sz="2800" spc="-1" strike="noStrike">
                <a:solidFill>
                  <a:srgbClr val="000000"/>
                </a:solidFill>
                <a:latin typeface="Arial"/>
              </a:rPr>
              <a:t>「こんにちは」は「こ、ん、に、ち、は」のように音の分節することができる。（</a:t>
            </a:r>
            <a:r>
              <a:rPr b="1" lang="ja-JP" sz="2800" spc="-1" strike="noStrike">
                <a:solidFill>
                  <a:srgbClr val="c00000"/>
                </a:solidFill>
                <a:latin typeface="Arial"/>
              </a:rPr>
              <a:t>言語音</a:t>
            </a:r>
            <a:r>
              <a:rPr b="1" lang="ja-JP" sz="2800" spc="-1" strike="noStrike">
                <a:solidFill>
                  <a:srgbClr val="000000"/>
                </a:solidFill>
                <a:latin typeface="Arial"/>
              </a:rPr>
              <a:t>）</a:t>
            </a:r>
            <a:endParaRPr b="0" lang="en-US" sz="2800" spc="-1" strike="noStrike">
              <a:solidFill>
                <a:srgbClr val="000000"/>
              </a:solidFill>
              <a:latin typeface="Arial"/>
            </a:endParaRPr>
          </a:p>
          <a:p>
            <a:pPr marL="343080" indent="0">
              <a:lnSpc>
                <a:spcPct val="9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a:p>
            <a:pPr marL="343080" indent="-34308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ja-JP" sz="2800" spc="-1" strike="noStrike">
                <a:solidFill>
                  <a:srgbClr val="000000"/>
                </a:solidFill>
                <a:latin typeface="Arial"/>
              </a:rPr>
              <a:t>「シーツ」と咳払いをする「ごほん」などは文字で表記はしてあるが、分節できない音声を</a:t>
            </a:r>
            <a:r>
              <a:rPr b="1" lang="ja-JP" sz="2800" spc="-1" strike="noStrike">
                <a:solidFill>
                  <a:srgbClr val="c00000"/>
                </a:solidFill>
                <a:latin typeface="Arial"/>
              </a:rPr>
              <a:t>非言語音</a:t>
            </a:r>
            <a:r>
              <a:rPr b="1" lang="ja-JP" sz="2800" spc="-1" strike="noStrike">
                <a:solidFill>
                  <a:srgbClr val="000000"/>
                </a:solidFill>
                <a:latin typeface="Arial"/>
              </a:rPr>
              <a:t>または表情音という。</a:t>
            </a:r>
            <a:endParaRPr b="0" lang="en-US" sz="2800" spc="-1" strike="noStrike">
              <a:solidFill>
                <a:srgbClr val="000000"/>
              </a:solidFill>
              <a:latin typeface="Arial"/>
            </a:endParaRPr>
          </a:p>
          <a:p>
            <a:pPr marL="343080" indent="0">
              <a:lnSpc>
                <a:spcPct val="9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a:p>
            <a:pPr marL="343080" indent="-343080">
              <a:lnSpc>
                <a:spcPct val="90000"/>
              </a:lnSpc>
              <a:spcBef>
                <a:spcPts val="700"/>
              </a:spcBef>
              <a:buClr>
                <a:srgbClr val="c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ja-JP" sz="2800" spc="-1" strike="noStrike">
                <a:solidFill>
                  <a:srgbClr val="c00000"/>
                </a:solidFill>
                <a:latin typeface="Arial"/>
              </a:rPr>
              <a:t>音声言語</a:t>
            </a:r>
            <a:r>
              <a:rPr b="1" lang="ja-JP" sz="2800" spc="-1" strike="noStrike">
                <a:solidFill>
                  <a:srgbClr val="000000"/>
                </a:solidFill>
                <a:latin typeface="Arial"/>
              </a:rPr>
              <a:t>には音声と意義の二つの側面がある。</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 name="内容占位符 3" descr=""/>
          <p:cNvPicPr/>
          <p:nvPr/>
        </p:nvPicPr>
        <p:blipFill>
          <a:blip r:embed="rId1"/>
          <a:stretch/>
        </p:blipFill>
        <p:spPr>
          <a:xfrm>
            <a:off x="108000" y="1341360"/>
            <a:ext cx="8942400" cy="417528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zh-CN" sz="4400" spc="-1" strike="noStrike">
              <a:solidFill>
                <a:srgbClr val="000000"/>
              </a:solidFill>
              <a:latin typeface="Arial"/>
            </a:endParaRPr>
          </a:p>
        </p:txBody>
      </p:sp>
      <p:sp>
        <p:nvSpPr>
          <p:cNvPr id="34"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zh-CN" sz="3200" spc="-1" strike="noStrike">
              <a:solidFill>
                <a:srgbClr val="000000"/>
              </a:solidFill>
              <a:latin typeface="Arial"/>
            </a:endParaRPr>
          </a:p>
        </p:txBody>
      </p:sp>
      <p:pic>
        <p:nvPicPr>
          <p:cNvPr id="35" name="Picture 5" descr=""/>
          <p:cNvPicPr/>
          <p:nvPr/>
        </p:nvPicPr>
        <p:blipFill>
          <a:blip r:embed="rId1"/>
          <a:stretch/>
        </p:blipFill>
        <p:spPr>
          <a:xfrm>
            <a:off x="0" y="189000"/>
            <a:ext cx="8893080" cy="645804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PlaceHolder 1"/>
          <p:cNvSpPr>
            <a:spLocks noGrp="1"/>
          </p:cNvSpPr>
          <p:nvPr>
            <p:ph type="title"/>
          </p:nvPr>
        </p:nvSpPr>
        <p:spPr>
          <a:xfrm>
            <a:off x="457200" y="274320"/>
            <a:ext cx="822960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4400" spc="-1" strike="noStrike">
                <a:solidFill>
                  <a:srgbClr val="000000"/>
                </a:solidFill>
                <a:latin typeface="Arial"/>
              </a:rPr>
              <a:t>破擦音</a:t>
            </a:r>
            <a:endParaRPr b="0" lang="en-US" sz="4400" spc="-1" strike="noStrike">
              <a:solidFill>
                <a:srgbClr val="000000"/>
              </a:solidFill>
              <a:latin typeface="Arial"/>
            </a:endParaRPr>
          </a:p>
        </p:txBody>
      </p:sp>
      <p:sp>
        <p:nvSpPr>
          <p:cNvPr id="37" name=""/>
          <p:cNvSpPr txBox="1"/>
          <p:nvPr/>
        </p:nvSpPr>
        <p:spPr>
          <a:xfrm>
            <a:off x="457200" y="1600200"/>
            <a:ext cx="8229600" cy="4525920"/>
          </a:xfrm>
          <a:prstGeom prst="rect">
            <a:avLst/>
          </a:prstGeom>
          <a:noFill/>
          <a:ln w="0">
            <a:noFill/>
          </a:ln>
        </p:spPr>
        <p:txBody>
          <a:bodyPr anchor="t">
            <a:normAutofit/>
          </a:bodyPr>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破擦音（はさつおん、英語</a:t>
            </a:r>
            <a:r>
              <a:rPr b="0" lang="en-US" sz="2800" spc="-1" strike="noStrike">
                <a:solidFill>
                  <a:srgbClr val="000000"/>
                </a:solidFill>
                <a:latin typeface="Arial"/>
              </a:rPr>
              <a:t>: affricate</a:t>
            </a:r>
            <a:r>
              <a:rPr b="0" lang="ja-JP" sz="2800" spc="-1" strike="noStrike">
                <a:solidFill>
                  <a:srgbClr val="000000"/>
                </a:solidFill>
                <a:latin typeface="Arial"/>
              </a:rPr>
              <a:t>）とは、破裂音と同様の閉鎖を作るが、閉鎖を開放するときに摩擦音が発生する子音を言う。</a:t>
            </a:r>
            <a:endParaRPr b="0" lang="en-US" sz="2800" spc="-1" strike="noStrike">
              <a:solidFill>
                <a:srgbClr val="000000"/>
              </a:solidFill>
              <a:latin typeface="Arial"/>
            </a:endParaRPr>
          </a:p>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Arial"/>
              </a:rPr>
              <a:t>[t͡s]</a:t>
            </a:r>
            <a:r>
              <a:rPr b="0" lang="zh-CN" sz="2800" spc="-1" strike="noStrike">
                <a:solidFill>
                  <a:srgbClr val="000000"/>
                </a:solidFill>
                <a:latin typeface="Arial"/>
              </a:rPr>
              <a:t>・</a:t>
            </a:r>
            <a:r>
              <a:rPr b="0" lang="en-US" sz="2800" spc="-1" strike="noStrike">
                <a:solidFill>
                  <a:srgbClr val="000000"/>
                </a:solidFill>
                <a:latin typeface="Arial"/>
              </a:rPr>
              <a:t>[t͡ʃ] </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4400" spc="-1" strike="noStrike">
              <a:solidFill>
                <a:srgbClr val="000000"/>
              </a:solidFill>
              <a:latin typeface="Arial"/>
            </a:endParaRPr>
          </a:p>
        </p:txBody>
      </p:sp>
      <p:pic>
        <p:nvPicPr>
          <p:cNvPr id="39" name="Picture 2" descr=""/>
          <p:cNvPicPr/>
          <p:nvPr/>
        </p:nvPicPr>
        <p:blipFill>
          <a:blip r:embed="rId1"/>
          <a:stretch/>
        </p:blipFill>
        <p:spPr>
          <a:xfrm>
            <a:off x="179280" y="2781360"/>
            <a:ext cx="8809200" cy="61596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320"/>
            <a:ext cx="822960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4400" spc="-1" strike="noStrike">
                <a:solidFill>
                  <a:srgbClr val="000000"/>
                </a:solidFill>
                <a:latin typeface="Arial"/>
              </a:rPr>
              <a:t>破裂音</a:t>
            </a:r>
            <a:endParaRPr b="0" lang="en-US" sz="4400" spc="-1" strike="noStrike">
              <a:solidFill>
                <a:srgbClr val="000000"/>
              </a:solidFill>
              <a:latin typeface="Arial"/>
            </a:endParaRPr>
          </a:p>
        </p:txBody>
      </p:sp>
      <p:sp>
        <p:nvSpPr>
          <p:cNvPr id="41" name=""/>
          <p:cNvSpPr txBox="1"/>
          <p:nvPr/>
        </p:nvSpPr>
        <p:spPr>
          <a:xfrm>
            <a:off x="250560" y="1484280"/>
            <a:ext cx="8785080" cy="4997520"/>
          </a:xfrm>
          <a:prstGeom prst="rect">
            <a:avLst/>
          </a:prstGeom>
          <a:noFill/>
          <a:ln w="0">
            <a:noFill/>
          </a:ln>
        </p:spPr>
        <p:txBody>
          <a:bodyPr anchor="t">
            <a:normAutofit fontScale="97490"/>
          </a:bodyPr>
          <a:p>
            <a:pPr marL="343080" indent="-343080">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400" spc="-1" strike="noStrike">
                <a:solidFill>
                  <a:srgbClr val="000000"/>
                </a:solidFill>
                <a:latin typeface="Arial"/>
              </a:rPr>
              <a:t>破裂音（はれつおん、英語</a:t>
            </a:r>
            <a:r>
              <a:rPr b="0" lang="en-US" sz="2400" spc="-1" strike="noStrike">
                <a:solidFill>
                  <a:srgbClr val="000000"/>
                </a:solidFill>
                <a:latin typeface="Arial"/>
              </a:rPr>
              <a:t>: plosive</a:t>
            </a:r>
            <a:r>
              <a:rPr b="0" lang="ja-JP" sz="2400" spc="-1" strike="noStrike">
                <a:solidFill>
                  <a:srgbClr val="000000"/>
                </a:solidFill>
                <a:latin typeface="Arial"/>
              </a:rPr>
              <a:t>）とは、鼻腔と口腔の双方の通気を同時に完全閉鎖するように、喉頭部または声門を閉鎖するか、あるいは口蓋帆を上げて鼻腔内を通る声道を閉鎖した上、口腔内の上下の調音器官を密着させて口腔内の声道も閉鎖することによって、閉鎖位置までの気圧を高め、その閉鎖を開放することによって発生する音（子音）を指す。</a:t>
            </a:r>
            <a:endParaRPr b="0" lang="en-US" sz="2400" spc="-1" strike="noStrike">
              <a:solidFill>
                <a:srgbClr val="000000"/>
              </a:solidFill>
              <a:latin typeface="Arial"/>
            </a:endParaRPr>
          </a:p>
          <a:p>
            <a:pPr marL="343080" indent="-34308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marL="343080" indent="-34308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[p] - </a:t>
            </a:r>
            <a:r>
              <a:rPr b="0" lang="zh-CN" sz="1800" spc="-1" strike="noStrike">
                <a:solidFill>
                  <a:srgbClr val="000000"/>
                </a:solidFill>
                <a:latin typeface="Arial"/>
              </a:rPr>
              <a:t>無声両唇破裂音                       </a:t>
            </a:r>
            <a:r>
              <a:rPr b="0" lang="en-US" sz="1800" spc="-1" strike="noStrike">
                <a:solidFill>
                  <a:srgbClr val="000000"/>
                </a:solidFill>
                <a:latin typeface="Arial"/>
              </a:rPr>
              <a:t>[b] - </a:t>
            </a:r>
            <a:r>
              <a:rPr b="0" lang="zh-CN" sz="1800" spc="-1" strike="noStrike">
                <a:solidFill>
                  <a:srgbClr val="000000"/>
                </a:solidFill>
                <a:latin typeface="Arial"/>
              </a:rPr>
              <a:t>有声両唇破裂音</a:t>
            </a:r>
            <a:endParaRPr b="0" lang="en-US" sz="1800" spc="-1" strike="noStrike">
              <a:solidFill>
                <a:srgbClr val="000000"/>
              </a:solidFill>
              <a:latin typeface="Arial"/>
            </a:endParaRPr>
          </a:p>
          <a:p>
            <a:pPr marL="343080" indent="-34308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[t] - </a:t>
            </a:r>
            <a:r>
              <a:rPr b="0" lang="zh-CN" sz="1800" spc="-1" strike="noStrike">
                <a:solidFill>
                  <a:srgbClr val="000000"/>
                </a:solidFill>
                <a:latin typeface="Arial"/>
              </a:rPr>
              <a:t>無声歯茎破裂音                        </a:t>
            </a:r>
            <a:r>
              <a:rPr b="0" lang="en-US" sz="1800" spc="-1" strike="noStrike">
                <a:solidFill>
                  <a:srgbClr val="000000"/>
                </a:solidFill>
                <a:latin typeface="Arial"/>
              </a:rPr>
              <a:t>[d] - </a:t>
            </a:r>
            <a:r>
              <a:rPr b="0" lang="zh-CN" sz="1800" spc="-1" strike="noStrike">
                <a:solidFill>
                  <a:srgbClr val="000000"/>
                </a:solidFill>
                <a:latin typeface="Arial"/>
              </a:rPr>
              <a:t>有声歯茎破裂音</a:t>
            </a:r>
            <a:endParaRPr b="0" lang="en-US" sz="1800" spc="-1" strike="noStrike">
              <a:solidFill>
                <a:srgbClr val="000000"/>
              </a:solidFill>
              <a:latin typeface="Arial"/>
            </a:endParaRPr>
          </a:p>
          <a:p>
            <a:pPr marL="343080" indent="-34308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[ʈ] - </a:t>
            </a:r>
            <a:r>
              <a:rPr b="0" lang="zh-CN" sz="1800" spc="-1" strike="noStrike">
                <a:solidFill>
                  <a:srgbClr val="000000"/>
                </a:solidFill>
                <a:latin typeface="Arial"/>
              </a:rPr>
              <a:t>無声</a:t>
            </a:r>
            <a:r>
              <a:rPr b="0" lang="ja-JP" sz="1800" spc="-1" strike="noStrike">
                <a:solidFill>
                  <a:srgbClr val="000000"/>
                </a:solidFill>
                <a:latin typeface="Arial"/>
              </a:rPr>
              <a:t>そり</a:t>
            </a:r>
            <a:r>
              <a:rPr b="0" lang="zh-CN" sz="1800" spc="-1" strike="noStrike">
                <a:solidFill>
                  <a:srgbClr val="000000"/>
                </a:solidFill>
                <a:latin typeface="Arial"/>
              </a:rPr>
              <a:t>舌破裂音                     </a:t>
            </a:r>
            <a:r>
              <a:rPr b="0" lang="en-US" sz="1800" spc="-1" strike="noStrike">
                <a:solidFill>
                  <a:srgbClr val="000000"/>
                </a:solidFill>
                <a:latin typeface="Arial"/>
              </a:rPr>
              <a:t>[ɖ] - </a:t>
            </a:r>
            <a:r>
              <a:rPr b="0" lang="zh-CN" sz="1800" spc="-1" strike="noStrike">
                <a:solidFill>
                  <a:srgbClr val="000000"/>
                </a:solidFill>
                <a:latin typeface="Arial"/>
              </a:rPr>
              <a:t>有声</a:t>
            </a:r>
            <a:r>
              <a:rPr b="0" lang="ja-JP" sz="1800" spc="-1" strike="noStrike">
                <a:solidFill>
                  <a:srgbClr val="000000"/>
                </a:solidFill>
                <a:latin typeface="Arial"/>
              </a:rPr>
              <a:t>そり</a:t>
            </a:r>
            <a:r>
              <a:rPr b="0" lang="zh-CN" sz="1800" spc="-1" strike="noStrike">
                <a:solidFill>
                  <a:srgbClr val="000000"/>
                </a:solidFill>
                <a:latin typeface="Arial"/>
              </a:rPr>
              <a:t>舌破裂音</a:t>
            </a:r>
            <a:endParaRPr b="0" lang="en-US" sz="1800" spc="-1" strike="noStrike">
              <a:solidFill>
                <a:srgbClr val="000000"/>
              </a:solidFill>
              <a:latin typeface="Arial"/>
            </a:endParaRPr>
          </a:p>
          <a:p>
            <a:pPr marL="343080" indent="-34308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[c] - </a:t>
            </a:r>
            <a:r>
              <a:rPr b="0" lang="zh-CN" sz="1800" spc="-1" strike="noStrike">
                <a:solidFill>
                  <a:srgbClr val="000000"/>
                </a:solidFill>
                <a:latin typeface="Arial"/>
              </a:rPr>
              <a:t>無声硬口蓋破裂音                    </a:t>
            </a:r>
            <a:r>
              <a:rPr b="0" lang="en-US" sz="1800" spc="-1" strike="noStrike">
                <a:solidFill>
                  <a:srgbClr val="000000"/>
                </a:solidFill>
                <a:latin typeface="Arial"/>
              </a:rPr>
              <a:t>[ɟ] - </a:t>
            </a:r>
            <a:r>
              <a:rPr b="0" lang="zh-CN" sz="1800" spc="-1" strike="noStrike">
                <a:solidFill>
                  <a:srgbClr val="000000"/>
                </a:solidFill>
                <a:latin typeface="Arial"/>
              </a:rPr>
              <a:t>有声硬口蓋破裂音</a:t>
            </a:r>
            <a:endParaRPr b="0" lang="en-US" sz="1800" spc="-1" strike="noStrike">
              <a:solidFill>
                <a:srgbClr val="000000"/>
              </a:solidFill>
              <a:latin typeface="Arial"/>
            </a:endParaRPr>
          </a:p>
          <a:p>
            <a:pPr marL="343080" indent="-34308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[k] - </a:t>
            </a:r>
            <a:r>
              <a:rPr b="0" lang="zh-CN" sz="1800" spc="-1" strike="noStrike">
                <a:solidFill>
                  <a:srgbClr val="000000"/>
                </a:solidFill>
                <a:latin typeface="Arial"/>
              </a:rPr>
              <a:t>無声軟口蓋破裂音                   </a:t>
            </a:r>
            <a:r>
              <a:rPr b="0" lang="en-US" sz="1800" spc="-1" strike="noStrike">
                <a:solidFill>
                  <a:srgbClr val="000000"/>
                </a:solidFill>
                <a:latin typeface="Arial"/>
              </a:rPr>
              <a:t>[ɡ] - </a:t>
            </a:r>
            <a:r>
              <a:rPr b="0" lang="zh-CN" sz="1800" spc="-1" strike="noStrike">
                <a:solidFill>
                  <a:srgbClr val="000000"/>
                </a:solidFill>
                <a:latin typeface="Arial"/>
              </a:rPr>
              <a:t>有声軟口蓋破裂音</a:t>
            </a:r>
            <a:endParaRPr b="0" lang="en-US" sz="1800" spc="-1" strike="noStrike">
              <a:solidFill>
                <a:srgbClr val="000000"/>
              </a:solidFill>
              <a:latin typeface="Arial"/>
            </a:endParaRPr>
          </a:p>
          <a:p>
            <a:pPr marL="343080" indent="-34308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[q] - </a:t>
            </a:r>
            <a:r>
              <a:rPr b="0" lang="zh-CN" sz="1800" spc="-1" strike="noStrike">
                <a:solidFill>
                  <a:srgbClr val="000000"/>
                </a:solidFill>
                <a:latin typeface="Arial"/>
              </a:rPr>
              <a:t>無声口蓋垂破裂音                   </a:t>
            </a:r>
            <a:r>
              <a:rPr b="0" lang="en-US" sz="1800" spc="-1" strike="noStrike">
                <a:solidFill>
                  <a:srgbClr val="000000"/>
                </a:solidFill>
                <a:latin typeface="Arial"/>
              </a:rPr>
              <a:t>[ɢ] - </a:t>
            </a:r>
            <a:r>
              <a:rPr b="0" lang="zh-CN" sz="1800" spc="-1" strike="noStrike">
                <a:solidFill>
                  <a:srgbClr val="000000"/>
                </a:solidFill>
                <a:latin typeface="Arial"/>
              </a:rPr>
              <a:t>有声口蓋垂破裂音</a:t>
            </a:r>
            <a:endParaRPr b="0" lang="en-US" sz="1800" spc="-1" strike="noStrike">
              <a:solidFill>
                <a:srgbClr val="000000"/>
              </a:solidFill>
              <a:latin typeface="Arial"/>
            </a:endParaRPr>
          </a:p>
          <a:p>
            <a:pPr marL="343080" indent="-34308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[ʔ] - </a:t>
            </a:r>
            <a:r>
              <a:rPr b="0" lang="zh-CN" sz="1800" spc="-1" strike="noStrike">
                <a:solidFill>
                  <a:srgbClr val="000000"/>
                </a:solidFill>
                <a:latin typeface="Arial"/>
              </a:rPr>
              <a:t>声門破裂音</a:t>
            </a:r>
            <a:endParaRPr b="0" lang="en-US" sz="1800" spc="-1" strike="noStrike">
              <a:solidFill>
                <a:srgbClr val="000000"/>
              </a:solidFill>
              <a:latin typeface="Arial"/>
            </a:endParaRPr>
          </a:p>
          <a:p>
            <a:pPr marL="343080" indent="-34308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4400" spc="-1" strike="noStrike">
              <a:solidFill>
                <a:srgbClr val="000000"/>
              </a:solidFill>
              <a:latin typeface="Arial"/>
            </a:endParaRPr>
          </a:p>
        </p:txBody>
      </p:sp>
      <p:sp>
        <p:nvSpPr>
          <p:cNvPr id="43" name=""/>
          <p:cNvSpPr txBox="1"/>
          <p:nvPr/>
        </p:nvSpPr>
        <p:spPr>
          <a:xfrm>
            <a:off x="457200" y="1600200"/>
            <a:ext cx="8229600" cy="4525920"/>
          </a:xfrm>
          <a:prstGeom prst="rect">
            <a:avLst/>
          </a:prstGeom>
          <a:noFill/>
          <a:ln w="0">
            <a:noFill/>
          </a:ln>
        </p:spPr>
        <p:txBody>
          <a:bodyPr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3200" spc="-1" strike="noStrike">
                <a:solidFill>
                  <a:srgbClr val="000000"/>
                </a:solidFill>
                <a:latin typeface="Arial"/>
              </a:rPr>
              <a:t>はじき音（はじきおん、</a:t>
            </a:r>
            <a:r>
              <a:rPr b="0" lang="en-US" sz="3200" spc="-1" strike="noStrike">
                <a:solidFill>
                  <a:srgbClr val="000000"/>
                </a:solidFill>
                <a:latin typeface="Arial"/>
              </a:rPr>
              <a:t>tap or flap</a:t>
            </a:r>
            <a:r>
              <a:rPr b="0" lang="ja-JP" sz="3200" spc="-1" strike="noStrike">
                <a:solidFill>
                  <a:srgbClr val="000000"/>
                </a:solidFill>
                <a:latin typeface="Arial"/>
              </a:rPr>
              <a:t>）とは、口腔内に調音器官によって瞬間的な接触を作ることで作り出される子音。弾音（だんおん）、</a:t>
            </a:r>
            <a:endParaRPr b="0" lang="en-US" sz="3200" spc="-1" strike="noStrike">
              <a:solidFill>
                <a:srgbClr val="000000"/>
              </a:solidFill>
              <a:latin typeface="Arial"/>
            </a:endParaRPr>
          </a:p>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Arial"/>
              </a:rPr>
              <a:t>[ɾ] - </a:t>
            </a:r>
            <a:r>
              <a:rPr b="0" lang="ja-JP" sz="3200" spc="-1" strike="noStrike">
                <a:solidFill>
                  <a:srgbClr val="000000"/>
                </a:solidFill>
                <a:latin typeface="Arial"/>
              </a:rPr>
              <a:t>歯茎はじき音</a:t>
            </a:r>
            <a:endParaRPr b="0" lang="en-US" sz="3200" spc="-1" strike="noStrike">
              <a:solidFill>
                <a:srgbClr val="000000"/>
              </a:solidFill>
              <a:latin typeface="Arial"/>
            </a:endParaRPr>
          </a:p>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Arial"/>
              </a:rPr>
              <a:t>[ɽ] - </a:t>
            </a:r>
            <a:r>
              <a:rPr b="0" lang="ja-JP" sz="3200" spc="-1" strike="noStrike">
                <a:solidFill>
                  <a:srgbClr val="000000"/>
                </a:solidFill>
                <a:latin typeface="Arial"/>
              </a:rPr>
              <a:t>そり舌はじき音</a:t>
            </a:r>
            <a:endParaRPr b="0" lang="en-US" sz="3200" spc="-1" strike="noStrike">
              <a:solidFill>
                <a:srgbClr val="000000"/>
              </a:solidFill>
              <a:latin typeface="Arial"/>
            </a:endParaRPr>
          </a:p>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Arial"/>
              </a:rPr>
              <a:t>[ɺ] - </a:t>
            </a:r>
            <a:r>
              <a:rPr b="0" lang="ja-JP" sz="3200" spc="-1" strike="noStrike">
                <a:solidFill>
                  <a:srgbClr val="000000"/>
                </a:solidFill>
                <a:latin typeface="Arial"/>
              </a:rPr>
              <a:t>歯茎側面はじき音</a:t>
            </a:r>
            <a:endParaRPr b="0" lang="en-US" sz="3200" spc="-1" strike="noStrike">
              <a:solidFill>
                <a:srgbClr val="000000"/>
              </a:solidFill>
              <a:latin typeface="Arial"/>
            </a:endParaRPr>
          </a:p>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Arial"/>
              </a:rPr>
              <a:t>[ⱱ] - </a:t>
            </a:r>
            <a:r>
              <a:rPr b="0" lang="ja-JP" sz="3200" spc="-1" strike="noStrike">
                <a:solidFill>
                  <a:srgbClr val="000000"/>
                </a:solidFill>
                <a:latin typeface="Arial"/>
              </a:rPr>
              <a:t>唇歯はじき音</a:t>
            </a:r>
            <a:endParaRPr b="0" lang="en-US" sz="3200" spc="-1" strike="noStrike">
              <a:solidFill>
                <a:srgbClr val="000000"/>
              </a:solidFill>
              <a:latin typeface="Arial"/>
            </a:endParaRPr>
          </a:p>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4400" spc="-1" strike="noStrike">
              <a:solidFill>
                <a:srgbClr val="000000"/>
              </a:solidFill>
              <a:latin typeface="Arial"/>
            </a:endParaRPr>
          </a:p>
        </p:txBody>
      </p:sp>
      <p:pic>
        <p:nvPicPr>
          <p:cNvPr id="45" name="Picture 2" descr=""/>
          <p:cNvPicPr/>
          <p:nvPr/>
        </p:nvPicPr>
        <p:blipFill>
          <a:blip r:embed="rId1"/>
          <a:stretch/>
        </p:blipFill>
        <p:spPr>
          <a:xfrm>
            <a:off x="250920" y="1484280"/>
            <a:ext cx="8656560" cy="410544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4400" spc="-1" strike="noStrike">
              <a:solidFill>
                <a:srgbClr val="000000"/>
              </a:solidFill>
              <a:latin typeface="Arial"/>
            </a:endParaRPr>
          </a:p>
        </p:txBody>
      </p:sp>
      <p:pic>
        <p:nvPicPr>
          <p:cNvPr id="47" name="Picture 2" descr=""/>
          <p:cNvPicPr/>
          <p:nvPr/>
        </p:nvPicPr>
        <p:blipFill>
          <a:blip r:embed="rId1"/>
          <a:stretch/>
        </p:blipFill>
        <p:spPr>
          <a:xfrm>
            <a:off x="2050920" y="1341360"/>
            <a:ext cx="5042160" cy="528480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320"/>
            <a:ext cx="822960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4400" spc="-1" strike="noStrike">
                <a:solidFill>
                  <a:srgbClr val="000000"/>
                </a:solidFill>
                <a:latin typeface="Arial"/>
              </a:rPr>
              <a:t>文音声の要素</a:t>
            </a:r>
            <a:endParaRPr b="0" lang="en-US" sz="4400" spc="-1" strike="noStrike">
              <a:solidFill>
                <a:srgbClr val="000000"/>
              </a:solidFill>
              <a:latin typeface="Arial"/>
            </a:endParaRPr>
          </a:p>
        </p:txBody>
      </p:sp>
      <p:sp>
        <p:nvSpPr>
          <p:cNvPr id="49" name="PlaceHolder 2"/>
          <p:cNvSpPr>
            <a:spLocks noGrp="1"/>
          </p:cNvSpPr>
          <p:nvPr>
            <p:ph/>
          </p:nvPr>
        </p:nvSpPr>
        <p:spPr>
          <a:xfrm>
            <a:off x="250560" y="1628640"/>
            <a:ext cx="8435880" cy="4525920"/>
          </a:xfrm>
          <a:prstGeom prst="rect">
            <a:avLst/>
          </a:prstGeom>
          <a:noFill/>
          <a:ln w="0">
            <a:noFill/>
          </a:ln>
        </p:spPr>
        <p:txBody>
          <a:bodyPr lIns="91440" rIns="91440" tIns="45720" bIns="45720" anchor="t">
            <a:normAutofit/>
          </a:bodyPr>
          <a:p>
            <a:pPr marL="343080" indent="-343080">
              <a:spcBef>
                <a:spcPts val="799"/>
              </a:spcBef>
              <a:buClr>
                <a:srgbClr val="ff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3200" spc="-1" strike="noStrike">
                <a:solidFill>
                  <a:srgbClr val="ff0000"/>
                </a:solidFill>
                <a:latin typeface="Arial"/>
              </a:rPr>
              <a:t>センテンスアクセント</a:t>
            </a:r>
            <a:r>
              <a:rPr b="0" lang="ja-JP" sz="3200" spc="-1" strike="noStrike">
                <a:solidFill>
                  <a:srgbClr val="000000"/>
                </a:solidFill>
                <a:latin typeface="Arial"/>
              </a:rPr>
              <a:t>　</a:t>
            </a:r>
            <a:r>
              <a:rPr b="0" lang="en-US" sz="3200" spc="-1" strike="noStrike">
                <a:solidFill>
                  <a:srgbClr val="000000"/>
                </a:solidFill>
                <a:latin typeface="Arial"/>
              </a:rPr>
              <a:t>sentense accent</a:t>
            </a:r>
            <a:r>
              <a:rPr b="0" lang="ja-JP" sz="3200" spc="-1" strike="noStrike">
                <a:solidFill>
                  <a:srgbClr val="000000"/>
                </a:solidFill>
                <a:latin typeface="Arial"/>
              </a:rPr>
              <a:t>　抑揚</a:t>
            </a:r>
            <a:endParaRPr b="0" lang="en-US" sz="3200" spc="-1" strike="noStrike">
              <a:solidFill>
                <a:srgbClr val="000000"/>
              </a:solidFill>
              <a:latin typeface="Arial"/>
            </a:endParaRPr>
          </a:p>
          <a:p>
            <a:pPr marL="343080" indent="-343080">
              <a:spcBef>
                <a:spcPts val="799"/>
              </a:spcBef>
              <a:buClr>
                <a:srgbClr val="ff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3200" spc="-1" strike="noStrike">
                <a:solidFill>
                  <a:srgbClr val="ff0000"/>
                </a:solidFill>
                <a:latin typeface="Arial"/>
              </a:rPr>
              <a:t>プロミネンス</a:t>
            </a:r>
            <a:r>
              <a:rPr b="0" lang="ja-JP" sz="3200" spc="-1" strike="noStrike">
                <a:solidFill>
                  <a:srgbClr val="000000"/>
                </a:solidFill>
                <a:latin typeface="Arial"/>
              </a:rPr>
              <a:t>  </a:t>
            </a:r>
            <a:r>
              <a:rPr b="0" lang="en-US" sz="3200" spc="-1" strike="noStrike">
                <a:solidFill>
                  <a:srgbClr val="000000"/>
                </a:solidFill>
                <a:latin typeface="Arial"/>
              </a:rPr>
              <a:t>prominence</a:t>
            </a:r>
            <a:r>
              <a:rPr b="0" lang="ja-JP" sz="3200" spc="-1" strike="noStrike">
                <a:solidFill>
                  <a:srgbClr val="000000"/>
                </a:solidFill>
                <a:latin typeface="Arial"/>
              </a:rPr>
              <a:t>　卓立</a:t>
            </a:r>
            <a:endParaRPr b="0" lang="en-US" sz="3200" spc="-1" strike="noStrike">
              <a:solidFill>
                <a:srgbClr val="000000"/>
              </a:solidFill>
              <a:latin typeface="Arial"/>
            </a:endParaRPr>
          </a:p>
          <a:p>
            <a:pPr marL="343080" indent="-343080">
              <a:spcBef>
                <a:spcPts val="799"/>
              </a:spcBef>
              <a:buClr>
                <a:srgbClr val="ff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3200" spc="-1" strike="noStrike">
                <a:solidFill>
                  <a:srgbClr val="ff0000"/>
                </a:solidFill>
                <a:latin typeface="Arial"/>
              </a:rPr>
              <a:t>リズム </a:t>
            </a:r>
            <a:r>
              <a:rPr b="0" lang="ja-JP" sz="3200" spc="-1" strike="noStrike">
                <a:solidFill>
                  <a:srgbClr val="000000"/>
                </a:solidFill>
                <a:latin typeface="Arial"/>
              </a:rPr>
              <a:t> </a:t>
            </a:r>
            <a:r>
              <a:rPr b="0" lang="en-US" sz="3200" spc="-1" strike="noStrike">
                <a:solidFill>
                  <a:srgbClr val="000000"/>
                </a:solidFill>
                <a:latin typeface="Arial"/>
              </a:rPr>
              <a:t>rhythm</a:t>
            </a:r>
            <a:r>
              <a:rPr b="0" lang="ja-JP" sz="3200" spc="-1" strike="noStrike">
                <a:solidFill>
                  <a:srgbClr val="000000"/>
                </a:solidFill>
                <a:latin typeface="Arial"/>
              </a:rPr>
              <a:t>　節奏</a:t>
            </a:r>
            <a:endParaRPr b="0" lang="en-US" sz="3200" spc="-1" strike="noStrike">
              <a:solidFill>
                <a:srgbClr val="000000"/>
              </a:solidFill>
              <a:latin typeface="Arial"/>
            </a:endParaRPr>
          </a:p>
          <a:p>
            <a:pPr marL="343080" indent="-343080">
              <a:spcBef>
                <a:spcPts val="799"/>
              </a:spcBef>
              <a:buClr>
                <a:srgbClr val="ff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3200" spc="-1" strike="noStrike">
                <a:solidFill>
                  <a:srgbClr val="ff0000"/>
                </a:solidFill>
                <a:latin typeface="Arial"/>
              </a:rPr>
              <a:t>テンポ</a:t>
            </a:r>
            <a:r>
              <a:rPr b="0" lang="ja-JP" sz="3200" spc="-1" strike="noStrike">
                <a:solidFill>
                  <a:srgbClr val="000000"/>
                </a:solidFill>
                <a:latin typeface="Arial"/>
              </a:rPr>
              <a:t>  </a:t>
            </a:r>
            <a:r>
              <a:rPr b="0" lang="en-US" sz="3200" spc="-1" strike="noStrike">
                <a:solidFill>
                  <a:srgbClr val="000000"/>
                </a:solidFill>
                <a:latin typeface="Arial"/>
              </a:rPr>
              <a:t>tempo</a:t>
            </a:r>
            <a:r>
              <a:rPr b="0" lang="ja-JP" sz="3200" spc="-1" strike="noStrike">
                <a:solidFill>
                  <a:srgbClr val="000000"/>
                </a:solidFill>
                <a:latin typeface="Arial"/>
              </a:rPr>
              <a:t>　速度</a:t>
            </a:r>
            <a:endParaRPr b="0" lang="en-US" sz="3200" spc="-1" strike="noStrike">
              <a:solidFill>
                <a:srgbClr val="000000"/>
              </a:solidFill>
              <a:latin typeface="Arial"/>
            </a:endParaRPr>
          </a:p>
          <a:p>
            <a:pPr marL="343080" indent="-343080">
              <a:spcBef>
                <a:spcPts val="799"/>
              </a:spcBef>
              <a:buClr>
                <a:srgbClr val="ff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3200" spc="-1" strike="noStrike">
                <a:solidFill>
                  <a:srgbClr val="ff0000"/>
                </a:solidFill>
                <a:latin typeface="Arial"/>
              </a:rPr>
              <a:t>ポーズ</a:t>
            </a:r>
            <a:r>
              <a:rPr b="0" lang="ja-JP" sz="3200" spc="-1" strike="noStrike">
                <a:solidFill>
                  <a:srgbClr val="000000"/>
                </a:solidFill>
                <a:latin typeface="Arial"/>
              </a:rPr>
              <a:t> </a:t>
            </a:r>
            <a:r>
              <a:rPr b="0" lang="en-US" sz="3200" spc="-1" strike="noStrike">
                <a:solidFill>
                  <a:srgbClr val="000000"/>
                </a:solidFill>
                <a:latin typeface="Arial"/>
              </a:rPr>
              <a:t>pause</a:t>
            </a:r>
            <a:r>
              <a:rPr b="0" lang="ja-JP" sz="3200" spc="-1" strike="noStrike">
                <a:solidFill>
                  <a:srgbClr val="000000"/>
                </a:solidFill>
                <a:latin typeface="Arial"/>
              </a:rPr>
              <a:t>　断続</a:t>
            </a:r>
            <a:endParaRPr b="0" lang="en-US" sz="3200" spc="-1" strike="noStrike">
              <a:solidFill>
                <a:srgbClr val="000000"/>
              </a:solidFill>
              <a:latin typeface="Arial"/>
            </a:endParaRPr>
          </a:p>
          <a:p>
            <a:pPr marL="343080" indent="-343080">
              <a:spcBef>
                <a:spcPts val="799"/>
              </a:spcBef>
              <a:buClr>
                <a:srgbClr val="ff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3200" spc="-1" strike="noStrike">
                <a:solidFill>
                  <a:srgbClr val="ff0000"/>
                </a:solidFill>
                <a:latin typeface="Arial"/>
              </a:rPr>
              <a:t>チェンジ･オブ･ペース</a:t>
            </a:r>
            <a:r>
              <a:rPr b="0" lang="ja-JP" sz="3200" spc="-1" strike="noStrike">
                <a:solidFill>
                  <a:srgbClr val="000000"/>
                </a:solidFill>
                <a:latin typeface="Arial"/>
              </a:rPr>
              <a:t>  </a:t>
            </a:r>
            <a:r>
              <a:rPr b="0" lang="en-US" sz="3200" spc="-1" strike="noStrike">
                <a:solidFill>
                  <a:srgbClr val="000000"/>
                </a:solidFill>
                <a:latin typeface="Arial"/>
              </a:rPr>
              <a:t>change of pace </a:t>
            </a:r>
            <a:r>
              <a:rPr b="0" lang="ja-JP" sz="3200" spc="-1" strike="noStrike">
                <a:solidFill>
                  <a:srgbClr val="000000"/>
                </a:solidFill>
                <a:latin typeface="Arial"/>
              </a:rPr>
              <a:t>緩急</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320"/>
            <a:ext cx="822960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4400" spc="-1" strike="noStrike">
                <a:solidFill>
                  <a:srgbClr val="000000"/>
                </a:solidFill>
                <a:latin typeface="Arial"/>
              </a:rPr>
              <a:t>話部音声</a:t>
            </a:r>
            <a:endParaRPr b="0" lang="en-US" sz="4400" spc="-1" strike="noStrike">
              <a:solidFill>
                <a:srgbClr val="000000"/>
              </a:solidFill>
              <a:latin typeface="Arial"/>
            </a:endParaRPr>
          </a:p>
        </p:txBody>
      </p:sp>
      <p:sp>
        <p:nvSpPr>
          <p:cNvPr id="51" name="PlaceHolder 2"/>
          <p:cNvSpPr>
            <a:spLocks noGrp="1"/>
          </p:cNvSpPr>
          <p:nvPr>
            <p:ph/>
          </p:nvPr>
        </p:nvSpPr>
        <p:spPr>
          <a:xfrm>
            <a:off x="457200" y="1600200"/>
            <a:ext cx="8229600" cy="4525920"/>
          </a:xfrm>
          <a:prstGeom prst="rect">
            <a:avLst/>
          </a:prstGeom>
          <a:noFill/>
          <a:ln w="0">
            <a:noFill/>
          </a:ln>
        </p:spPr>
        <p:txBody>
          <a:bodyPr lIns="91440" rIns="91440" tIns="45720" bIns="45720"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3200" spc="-1" strike="noStrike">
                <a:solidFill>
                  <a:srgbClr val="000000"/>
                </a:solidFill>
                <a:latin typeface="Arial"/>
              </a:rPr>
              <a:t>文音声は話部音声に分節することができる。</a:t>
            </a:r>
            <a:endParaRPr b="0" lang="en-US" sz="3200" spc="-1" strike="noStrike">
              <a:solidFill>
                <a:srgbClr val="000000"/>
              </a:solidFill>
              <a:latin typeface="Arial"/>
            </a:endParaRPr>
          </a:p>
          <a:p>
            <a:pPr marL="343080"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200" spc="-1" strike="noStrike">
              <a:solidFill>
                <a:srgbClr val="000000"/>
              </a:solidFill>
              <a:latin typeface="Arial"/>
            </a:endParaRPr>
          </a:p>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3200" spc="-1" strike="noStrike">
                <a:solidFill>
                  <a:srgbClr val="000000"/>
                </a:solidFill>
                <a:latin typeface="Arial"/>
              </a:rPr>
              <a:t>きょうは／いい／天気です／ねえ。</a:t>
            </a:r>
            <a:endParaRPr b="0" lang="en-US" sz="3200" spc="-1" strike="noStrike">
              <a:solidFill>
                <a:srgbClr val="000000"/>
              </a:solidFill>
              <a:latin typeface="Arial"/>
            </a:endParaRPr>
          </a:p>
          <a:p>
            <a:pPr marL="343080"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200" spc="-1" strike="noStrike">
              <a:solidFill>
                <a:srgbClr val="000000"/>
              </a:solidFill>
              <a:latin typeface="Arial"/>
            </a:endParaRPr>
          </a:p>
          <a:p>
            <a:pPr marL="343080"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4320"/>
            <a:ext cx="822960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4400" spc="-1" strike="noStrike">
                <a:solidFill>
                  <a:srgbClr val="000000"/>
                </a:solidFill>
                <a:latin typeface="Arial"/>
              </a:rPr>
              <a:t>語音</a:t>
            </a:r>
            <a:endParaRPr b="0" lang="en-US" sz="4400" spc="-1" strike="noStrike">
              <a:solidFill>
                <a:srgbClr val="000000"/>
              </a:solidFill>
              <a:latin typeface="Arial"/>
            </a:endParaRPr>
          </a:p>
        </p:txBody>
      </p:sp>
      <p:sp>
        <p:nvSpPr>
          <p:cNvPr id="53" name="PlaceHolder 2"/>
          <p:cNvSpPr>
            <a:spLocks noGrp="1"/>
          </p:cNvSpPr>
          <p:nvPr>
            <p:ph/>
          </p:nvPr>
        </p:nvSpPr>
        <p:spPr>
          <a:xfrm>
            <a:off x="457200" y="1600200"/>
            <a:ext cx="8229600" cy="4525920"/>
          </a:xfrm>
          <a:prstGeom prst="rect">
            <a:avLst/>
          </a:prstGeom>
          <a:noFill/>
          <a:ln w="0">
            <a:noFill/>
          </a:ln>
        </p:spPr>
        <p:txBody>
          <a:bodyPr lIns="91440" rIns="91440" tIns="45720" bIns="45720" anchor="t">
            <a:normAutofit/>
          </a:bodyPr>
          <a:p>
            <a:pPr marL="343080" indent="-343080">
              <a:lnSpc>
                <a:spcPct val="90000"/>
              </a:lnSpc>
              <a:spcBef>
                <a:spcPts val="700"/>
              </a:spcBef>
              <a:buClr>
                <a:srgbClr val="c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c00000"/>
                </a:solidFill>
                <a:latin typeface="Arial"/>
              </a:rPr>
              <a:t>音節</a:t>
            </a:r>
            <a:r>
              <a:rPr b="0" lang="ja-JP" sz="2800" spc="-1" strike="noStrike">
                <a:solidFill>
                  <a:srgbClr val="000000"/>
                </a:solidFill>
                <a:latin typeface="Arial"/>
              </a:rPr>
              <a:t>　</a:t>
            </a:r>
            <a:r>
              <a:rPr b="0" lang="en-US" sz="2800" spc="-1" strike="noStrike">
                <a:solidFill>
                  <a:srgbClr val="000000"/>
                </a:solidFill>
                <a:latin typeface="Arial"/>
              </a:rPr>
              <a:t>syllable</a:t>
            </a:r>
            <a:endParaRPr b="0" lang="en-US" sz="2800" spc="-1" strike="noStrike">
              <a:solidFill>
                <a:srgbClr val="000000"/>
              </a:solidFill>
              <a:latin typeface="Arial"/>
            </a:endParaRPr>
          </a:p>
          <a:p>
            <a:pPr marL="343080" indent="-343080">
              <a:lnSpc>
                <a:spcPct val="90000"/>
              </a:lnSpc>
              <a:spcBef>
                <a:spcPts val="700"/>
              </a:spcBef>
              <a:buClr>
                <a:srgbClr val="c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c00000"/>
                </a:solidFill>
                <a:latin typeface="Arial"/>
              </a:rPr>
              <a:t>単音</a:t>
            </a:r>
            <a:r>
              <a:rPr b="0" lang="ja-JP" sz="2800" spc="-1" strike="noStrike">
                <a:solidFill>
                  <a:srgbClr val="000000"/>
                </a:solidFill>
                <a:latin typeface="Arial"/>
              </a:rPr>
              <a:t>　</a:t>
            </a:r>
            <a:r>
              <a:rPr b="0" lang="en-US" sz="2800" spc="-1" strike="noStrike">
                <a:solidFill>
                  <a:srgbClr val="000000"/>
                </a:solidFill>
                <a:latin typeface="Arial"/>
              </a:rPr>
              <a:t>〔〕</a:t>
            </a:r>
            <a:endParaRPr b="0" lang="en-US" sz="2800" spc="-1" strike="noStrike">
              <a:solidFill>
                <a:srgbClr val="000000"/>
              </a:solidFill>
              <a:latin typeface="Arial"/>
            </a:endParaRPr>
          </a:p>
          <a:p>
            <a:pPr marL="343080" indent="-343080">
              <a:lnSpc>
                <a:spcPct val="90000"/>
              </a:lnSpc>
              <a:spcBef>
                <a:spcPts val="700"/>
              </a:spcBef>
              <a:buClr>
                <a:srgbClr val="c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c00000"/>
                </a:solidFill>
                <a:latin typeface="Arial"/>
              </a:rPr>
              <a:t>音素</a:t>
            </a:r>
            <a:r>
              <a:rPr b="0" lang="ja-JP" sz="2800" spc="-1" strike="noStrike">
                <a:solidFill>
                  <a:srgbClr val="000000"/>
                </a:solidFill>
                <a:latin typeface="Arial"/>
              </a:rPr>
              <a:t>　</a:t>
            </a:r>
            <a:r>
              <a:rPr b="0" lang="en-US" sz="2800" spc="-1" strike="noStrike">
                <a:solidFill>
                  <a:srgbClr val="000000"/>
                </a:solidFill>
                <a:latin typeface="Arial"/>
              </a:rPr>
              <a:t>/</a:t>
            </a:r>
            <a:r>
              <a:rPr b="0" lang="ja-JP" sz="2800" spc="-1" strike="noStrike">
                <a:solidFill>
                  <a:srgbClr val="000000"/>
                </a:solidFill>
                <a:latin typeface="Arial"/>
              </a:rPr>
              <a:t>　</a:t>
            </a:r>
            <a:r>
              <a:rPr b="0" lang="en-US" sz="2800" spc="-1" strike="noStrike">
                <a:solidFill>
                  <a:srgbClr val="000000"/>
                </a:solidFill>
                <a:latin typeface="Arial"/>
              </a:rPr>
              <a:t>/</a:t>
            </a:r>
            <a:endParaRPr b="0" lang="en-US" sz="2800" spc="-1" strike="noStrike">
              <a:solidFill>
                <a:srgbClr val="000000"/>
              </a:solidFill>
              <a:latin typeface="Arial"/>
            </a:endParaRPr>
          </a:p>
          <a:p>
            <a:pPr marL="343080" indent="0">
              <a:lnSpc>
                <a:spcPct val="9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　　例：ハ行　</a:t>
            </a:r>
            <a:r>
              <a:rPr b="0" lang="en-US" sz="2800" spc="-1" strike="noStrike">
                <a:solidFill>
                  <a:srgbClr val="000000"/>
                </a:solidFill>
                <a:latin typeface="Arial"/>
              </a:rPr>
              <a:t>〔</a:t>
            </a:r>
            <a:r>
              <a:rPr b="0" lang="en-US" sz="2800" spc="-1" strike="noStrike">
                <a:solidFill>
                  <a:srgbClr val="000000"/>
                </a:solidFill>
                <a:latin typeface="Arial"/>
              </a:rPr>
              <a:t>ha</a:t>
            </a:r>
            <a:r>
              <a:rPr b="0" lang="en-US" sz="2800" spc="-1" strike="noStrike">
                <a:solidFill>
                  <a:srgbClr val="000000"/>
                </a:solidFill>
                <a:latin typeface="Arial"/>
              </a:rPr>
              <a:t>〕〔</a:t>
            </a:r>
            <a:r>
              <a:rPr b="0" lang="en-US" sz="2800" spc="-1" strike="noStrike">
                <a:solidFill>
                  <a:srgbClr val="000000"/>
                </a:solidFill>
                <a:latin typeface="ＭＳ Ｐゴシック"/>
              </a:rPr>
              <a:t>çi</a:t>
            </a:r>
            <a:r>
              <a:rPr b="0" lang="en-US" sz="2800" spc="-1" strike="noStrike">
                <a:solidFill>
                  <a:srgbClr val="000000"/>
                </a:solidFill>
                <a:latin typeface="ＭＳ Ｐゴシック"/>
              </a:rPr>
              <a:t>〕〔</a:t>
            </a:r>
            <a:r>
              <a:rPr b="0" lang="en-US" sz="2800" spc="-1" strike="noStrike">
                <a:solidFill>
                  <a:srgbClr val="000000"/>
                </a:solidFill>
                <a:latin typeface="ＭＳ Ｐゴシック"/>
              </a:rPr>
              <a:t>Fu</a:t>
            </a:r>
            <a:r>
              <a:rPr b="0" lang="en-US" sz="2800" spc="-1" strike="noStrike">
                <a:solidFill>
                  <a:srgbClr val="000000"/>
                </a:solidFill>
                <a:latin typeface="ＭＳ Ｐゴシック"/>
              </a:rPr>
              <a:t>〕〔</a:t>
            </a:r>
            <a:r>
              <a:rPr b="0" lang="en-US" sz="2800" spc="-1" strike="noStrike">
                <a:solidFill>
                  <a:srgbClr val="000000"/>
                </a:solidFill>
                <a:latin typeface="ＭＳ Ｐゴシック"/>
              </a:rPr>
              <a:t>he</a:t>
            </a:r>
            <a:r>
              <a:rPr b="0" lang="en-US" sz="2800" spc="-1" strike="noStrike">
                <a:solidFill>
                  <a:srgbClr val="000000"/>
                </a:solidFill>
                <a:latin typeface="ＭＳ Ｐゴシック"/>
              </a:rPr>
              <a:t>〕〔</a:t>
            </a:r>
            <a:r>
              <a:rPr b="0" lang="en-US" sz="2800" spc="-1" strike="noStrike">
                <a:solidFill>
                  <a:srgbClr val="000000"/>
                </a:solidFill>
                <a:latin typeface="ＭＳ Ｐゴシック"/>
              </a:rPr>
              <a:t>ho</a:t>
            </a:r>
            <a:r>
              <a:rPr b="0" lang="en-US" sz="2800" spc="-1" strike="noStrike">
                <a:solidFill>
                  <a:srgbClr val="000000"/>
                </a:solidFill>
                <a:latin typeface="ＭＳ Ｐゴシック"/>
              </a:rPr>
              <a:t>〕</a:t>
            </a:r>
            <a:r>
              <a:rPr b="0" lang="ja-JP" sz="2800" spc="-1" strike="noStrike">
                <a:solidFill>
                  <a:srgbClr val="000000"/>
                </a:solidFill>
                <a:latin typeface="ＭＳ Ｐゴシック"/>
              </a:rPr>
              <a:t>　音節</a:t>
            </a:r>
            <a:endParaRPr b="0" lang="en-US" sz="2800" spc="-1" strike="noStrike">
              <a:solidFill>
                <a:srgbClr val="000000"/>
              </a:solidFill>
              <a:latin typeface="Arial"/>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ＭＳ Ｐゴシック"/>
              </a:rPr>
              <a:t>　　　　　　　　</a:t>
            </a:r>
            <a:r>
              <a:rPr b="0" lang="en-US" sz="2800" spc="-1" strike="noStrike">
                <a:solidFill>
                  <a:srgbClr val="000000"/>
                </a:solidFill>
                <a:latin typeface="ＭＳ Ｐゴシック"/>
              </a:rPr>
              <a:t>/h/                               </a:t>
            </a:r>
            <a:r>
              <a:rPr b="0" lang="ja-JP" sz="2800" spc="-1" strike="noStrike">
                <a:solidFill>
                  <a:srgbClr val="000000"/>
                </a:solidFill>
                <a:latin typeface="ＭＳ Ｐゴシック"/>
              </a:rPr>
              <a:t>音素</a:t>
            </a:r>
            <a:endParaRPr b="0" lang="en-US" sz="2800" spc="-1" strike="noStrike">
              <a:solidFill>
                <a:srgbClr val="000000"/>
              </a:solidFill>
              <a:latin typeface="Arial"/>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a:p>
            <a:pPr marL="343080" indent="-343080">
              <a:lnSpc>
                <a:spcPct val="90000"/>
              </a:lnSpc>
              <a:spcBef>
                <a:spcPts val="700"/>
              </a:spcBef>
              <a:buClr>
                <a:srgbClr val="c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c00000"/>
                </a:solidFill>
                <a:latin typeface="Arial"/>
              </a:rPr>
              <a:t>モーラ</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4320"/>
            <a:ext cx="822960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4400" spc="-1" strike="noStrike">
                <a:solidFill>
                  <a:srgbClr val="000000"/>
                </a:solidFill>
                <a:latin typeface="Arial"/>
              </a:rPr>
              <a:t>母音の無声化</a:t>
            </a:r>
            <a:endParaRPr b="0" lang="en-US" sz="4400" spc="-1" strike="noStrike">
              <a:solidFill>
                <a:srgbClr val="000000"/>
              </a:solidFill>
              <a:latin typeface="Arial"/>
            </a:endParaRPr>
          </a:p>
        </p:txBody>
      </p:sp>
      <p:sp>
        <p:nvSpPr>
          <p:cNvPr id="55" name="PlaceHolder 2"/>
          <p:cNvSpPr>
            <a:spLocks noGrp="1"/>
          </p:cNvSpPr>
          <p:nvPr>
            <p:ph/>
          </p:nvPr>
        </p:nvSpPr>
        <p:spPr>
          <a:xfrm>
            <a:off x="324000" y="1628640"/>
            <a:ext cx="8712000" cy="4525920"/>
          </a:xfrm>
          <a:prstGeom prst="rect">
            <a:avLst/>
          </a:prstGeom>
          <a:noFill/>
          <a:ln w="0">
            <a:noFill/>
          </a:ln>
        </p:spPr>
        <p:txBody>
          <a:bodyPr lIns="91440" rIns="91440" tIns="45720" bIns="45720" anchor="t">
            <a:normAutofit/>
          </a:bodyPr>
          <a:p>
            <a:pPr marL="182520" indent="0">
              <a:lnSpc>
                <a:spcPct val="10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2800" spc="-1" strike="noStrike">
                <a:solidFill>
                  <a:srgbClr val="000000"/>
                </a:solidFill>
                <a:latin typeface="ＭＳ Ｐゴシック"/>
              </a:rPr>
              <a:t>日本語を発音する場合、口構えだけは母音の口構えを取るが、実際には母音が有声をして響かない現象。音声記号では無声化は</a:t>
            </a:r>
            <a:r>
              <a:rPr b="1" lang="en-US" sz="2800" spc="-1" strike="noStrike">
                <a:solidFill>
                  <a:srgbClr val="000000"/>
                </a:solidFill>
                <a:latin typeface="ＭＳ Ｐゴシック"/>
              </a:rPr>
              <a:t>[</a:t>
            </a:r>
            <a:r>
              <a:rPr b="1" lang="ja-JP" sz="2800" spc="-1" strike="noStrike">
                <a:solidFill>
                  <a:srgbClr val="000000"/>
                </a:solidFill>
                <a:latin typeface="ＭＳ Ｐゴシック"/>
              </a:rPr>
              <a:t>。</a:t>
            </a:r>
            <a:r>
              <a:rPr b="1" lang="en-US" sz="2800" spc="-1" strike="noStrike">
                <a:solidFill>
                  <a:srgbClr val="000000"/>
                </a:solidFill>
                <a:latin typeface="ＭＳ Ｐゴシック"/>
              </a:rPr>
              <a:t>]</a:t>
            </a:r>
            <a:r>
              <a:rPr b="1" lang="ja-JP" sz="2800" spc="-1" strike="noStrike">
                <a:solidFill>
                  <a:srgbClr val="000000"/>
                </a:solidFill>
                <a:latin typeface="ＭＳ Ｐゴシック"/>
              </a:rPr>
              <a:t>で示す。</a:t>
            </a:r>
            <a:endParaRPr b="0" lang="en-US" sz="2800" spc="-1" strike="noStrike">
              <a:solidFill>
                <a:srgbClr val="000000"/>
              </a:solidFill>
              <a:latin typeface="Arial"/>
            </a:endParaRPr>
          </a:p>
          <a:p>
            <a:pPr marL="182520" indent="0">
              <a:lnSpc>
                <a:spcPct val="10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a:p>
            <a:pPr marL="182520" indent="0">
              <a:lnSpc>
                <a:spcPct val="10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2800" spc="-1" strike="noStrike">
                <a:solidFill>
                  <a:srgbClr val="000000"/>
                </a:solidFill>
                <a:latin typeface="ＭＳ Ｐゴシック"/>
              </a:rPr>
              <a:t>１．</a:t>
            </a:r>
            <a:r>
              <a:rPr b="1" lang="ja-JP" sz="2800" spc="-1" strike="noStrike">
                <a:solidFill>
                  <a:srgbClr val="c00000"/>
                </a:solidFill>
                <a:latin typeface="ＭＳ Ｐゴシック"/>
              </a:rPr>
              <a:t>無声子音</a:t>
            </a:r>
            <a:r>
              <a:rPr b="1" lang="en-US" sz="2800" spc="-1" strike="noStrike">
                <a:solidFill>
                  <a:srgbClr val="000000"/>
                </a:solidFill>
                <a:latin typeface="ＭＳ Ｐゴシック"/>
              </a:rPr>
              <a:t>(</a:t>
            </a:r>
            <a:r>
              <a:rPr b="1" lang="zh-CN" sz="2800" spc="-1" strike="noStrike">
                <a:solidFill>
                  <a:srgbClr val="000000"/>
                </a:solidFill>
                <a:latin typeface="ＭＳ Ｐゴシック"/>
              </a:rPr>
              <a:t>カ行、サ行、タ行、ハ行、パ行の子音</a:t>
            </a:r>
            <a:r>
              <a:rPr b="1" lang="en-US" sz="2800" spc="-1" strike="noStrike">
                <a:solidFill>
                  <a:srgbClr val="000000"/>
                </a:solidFill>
                <a:latin typeface="ＭＳ Ｐゴシック"/>
              </a:rPr>
              <a:t>)</a:t>
            </a:r>
            <a:r>
              <a:rPr b="1" lang="ja-JP" sz="2800" spc="-1" strike="noStrike">
                <a:solidFill>
                  <a:srgbClr val="000000"/>
                </a:solidFill>
                <a:latin typeface="ＭＳ Ｐゴシック"/>
              </a:rPr>
              <a:t>の間のイ、ウ</a:t>
            </a:r>
            <a:endParaRPr b="0" lang="en-US" sz="2800" spc="-1" strike="noStrike">
              <a:solidFill>
                <a:srgbClr val="000000"/>
              </a:solidFill>
              <a:latin typeface="Arial"/>
            </a:endParaRPr>
          </a:p>
          <a:p>
            <a:pPr marL="182520" indent="0">
              <a:lnSpc>
                <a:spcPct val="10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2800" spc="-1" strike="noStrike">
                <a:solidFill>
                  <a:srgbClr val="000000"/>
                </a:solidFill>
                <a:latin typeface="ＭＳ Ｐゴシック"/>
              </a:rPr>
              <a:t>　　菊きくーー</a:t>
            </a:r>
            <a:r>
              <a:rPr b="1" lang="en-US" sz="2800" spc="-1" strike="noStrike">
                <a:solidFill>
                  <a:srgbClr val="000000"/>
                </a:solidFill>
                <a:latin typeface="ＭＳ Ｐゴシック"/>
              </a:rPr>
              <a:t>k</a:t>
            </a:r>
            <a:r>
              <a:rPr b="1" lang="en-US" sz="2800" spc="-1" strike="noStrike">
                <a:solidFill>
                  <a:srgbClr val="ff0000"/>
                </a:solidFill>
                <a:latin typeface="ＭＳ Ｐゴシック"/>
              </a:rPr>
              <a:t>i </a:t>
            </a:r>
            <a:r>
              <a:rPr b="1" lang="en-US" sz="2800" spc="-1" strike="noStrike">
                <a:solidFill>
                  <a:srgbClr val="000000"/>
                </a:solidFill>
                <a:latin typeface="ＭＳ Ｐゴシック"/>
              </a:rPr>
              <a:t>ku           </a:t>
            </a:r>
            <a:r>
              <a:rPr b="1" lang="zh-CN" sz="2800" spc="-1" strike="noStrike">
                <a:solidFill>
                  <a:srgbClr val="000000"/>
                </a:solidFill>
                <a:latin typeface="ＭＳ Ｐゴシック"/>
              </a:rPr>
              <a:t>疲れる</a:t>
            </a:r>
            <a:r>
              <a:rPr b="1" lang="en-US" sz="2800" spc="-1" strike="noStrike">
                <a:solidFill>
                  <a:srgbClr val="000000"/>
                </a:solidFill>
                <a:latin typeface="ＭＳ Ｐゴシック"/>
              </a:rPr>
              <a:t>--t </a:t>
            </a:r>
            <a:r>
              <a:rPr b="1" lang="zh-CN" sz="2800" spc="-1" strike="noStrike">
                <a:solidFill>
                  <a:srgbClr val="ff0000"/>
                </a:solidFill>
                <a:latin typeface="ＭＳ Ｐゴシック"/>
              </a:rPr>
              <a:t>ｕ</a:t>
            </a:r>
            <a:r>
              <a:rPr b="1" lang="zh-CN" sz="2800" spc="-1" strike="noStrike">
                <a:solidFill>
                  <a:srgbClr val="000000"/>
                </a:solidFill>
                <a:latin typeface="ＭＳ Ｐゴシック"/>
              </a:rPr>
              <a:t> </a:t>
            </a:r>
            <a:r>
              <a:rPr b="1" lang="en-US" sz="2800" spc="-1" strike="noStrike">
                <a:solidFill>
                  <a:srgbClr val="000000"/>
                </a:solidFill>
                <a:latin typeface="ＭＳ Ｐゴシック"/>
              </a:rPr>
              <a:t>k</a:t>
            </a:r>
            <a:r>
              <a:rPr b="1" lang="zh-CN" sz="2800" spc="-1" strike="noStrike">
                <a:solidFill>
                  <a:srgbClr val="000000"/>
                </a:solidFill>
                <a:latin typeface="ＭＳ Ｐゴシック"/>
              </a:rPr>
              <a:t>ａ</a:t>
            </a:r>
            <a:r>
              <a:rPr b="1" lang="en-US" sz="2800" spc="-1" strike="noStrike">
                <a:solidFill>
                  <a:srgbClr val="000000"/>
                </a:solidFill>
                <a:latin typeface="ＭＳ Ｐゴシック"/>
              </a:rPr>
              <a:t>r</a:t>
            </a:r>
            <a:r>
              <a:rPr b="1" lang="zh-CN" sz="2800" spc="-1" strike="noStrike">
                <a:solidFill>
                  <a:srgbClr val="000000"/>
                </a:solidFill>
                <a:latin typeface="ＭＳ Ｐゴシック"/>
              </a:rPr>
              <a:t>ｅ</a:t>
            </a:r>
            <a:r>
              <a:rPr b="1" lang="en-US" sz="2800" spc="-1" strike="noStrike">
                <a:solidFill>
                  <a:srgbClr val="000000"/>
                </a:solidFill>
                <a:latin typeface="ＭＳ Ｐゴシック"/>
              </a:rPr>
              <a:t>ru</a:t>
            </a:r>
            <a:endParaRPr b="0" lang="en-US" sz="2800" spc="-1" strike="noStrike">
              <a:solidFill>
                <a:srgbClr val="000000"/>
              </a:solidFill>
              <a:latin typeface="Arial"/>
            </a:endParaRPr>
          </a:p>
          <a:p>
            <a:pPr marL="182520" indent="0">
              <a:lnSpc>
                <a:spcPct val="10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2800" spc="-1" strike="noStrike">
                <a:solidFill>
                  <a:srgbClr val="000000"/>
                </a:solidFill>
                <a:latin typeface="ＭＳ Ｐゴシック"/>
              </a:rPr>
              <a:t>　　太いーー</a:t>
            </a:r>
            <a:r>
              <a:rPr b="1" lang="en-US" sz="2800" spc="-1" strike="noStrike">
                <a:solidFill>
                  <a:srgbClr val="000000"/>
                </a:solidFill>
                <a:latin typeface="ＭＳ Ｐゴシック"/>
              </a:rPr>
              <a:t>f</a:t>
            </a:r>
            <a:r>
              <a:rPr b="1" lang="en-US" sz="2800" spc="-1" strike="noStrike">
                <a:solidFill>
                  <a:srgbClr val="ff0000"/>
                </a:solidFill>
                <a:latin typeface="ＭＳ Ｐゴシック"/>
              </a:rPr>
              <a:t>u</a:t>
            </a:r>
            <a:r>
              <a:rPr b="1" lang="en-US" sz="2800" spc="-1" strike="noStrike">
                <a:solidFill>
                  <a:srgbClr val="000000"/>
                </a:solidFill>
                <a:latin typeface="ＭＳ Ｐゴシック"/>
              </a:rPr>
              <a:t> toi</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zh-CN" sz="4400" spc="-1" strike="noStrike">
              <a:solidFill>
                <a:srgbClr val="000000"/>
              </a:solidFill>
              <a:latin typeface="Arial"/>
            </a:endParaRPr>
          </a:p>
        </p:txBody>
      </p:sp>
      <p:sp>
        <p:nvSpPr>
          <p:cNvPr id="57" name="PlaceHolder 2"/>
          <p:cNvSpPr>
            <a:spLocks noGrp="1"/>
          </p:cNvSpPr>
          <p:nvPr>
            <p:ph/>
          </p:nvPr>
        </p:nvSpPr>
        <p:spPr>
          <a:xfrm>
            <a:off x="250920" y="1600200"/>
            <a:ext cx="8642160" cy="4525920"/>
          </a:xfrm>
          <a:prstGeom prst="rect">
            <a:avLst/>
          </a:prstGeom>
          <a:noFill/>
          <a:ln w="0">
            <a:noFill/>
          </a:ln>
        </p:spPr>
        <p:txBody>
          <a:bodyPr lIns="91440" rIns="91440" tIns="45720" bIns="45720" anchor="t">
            <a:normAutofit/>
          </a:bodyPr>
          <a:p>
            <a:pPr marL="343080" indent="-343080">
              <a:lnSpc>
                <a:spcPct val="10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2800" spc="-1" strike="noStrike">
                <a:solidFill>
                  <a:srgbClr val="000000"/>
                </a:solidFill>
                <a:latin typeface="ＭＳ Ｐゴシック"/>
              </a:rPr>
              <a:t>２</a:t>
            </a:r>
            <a:r>
              <a:rPr b="1" lang="en-US" sz="2800" spc="-1" strike="noStrike">
                <a:solidFill>
                  <a:srgbClr val="000000"/>
                </a:solidFill>
                <a:latin typeface="ＭＳ Ｐゴシック"/>
              </a:rPr>
              <a:t>.</a:t>
            </a:r>
            <a:r>
              <a:rPr b="1" lang="ja-JP" sz="2800" spc="-1" strike="noStrike">
                <a:solidFill>
                  <a:srgbClr val="000000"/>
                </a:solidFill>
                <a:latin typeface="ＭＳ Ｐゴシック"/>
              </a:rPr>
              <a:t>　無声子音に続く語末、文末のイ、ウ</a:t>
            </a:r>
            <a:endParaRPr b="0" lang="en-US" sz="2800" spc="-1" strike="noStrike">
              <a:solidFill>
                <a:srgbClr val="000000"/>
              </a:solidFill>
              <a:latin typeface="Arial"/>
            </a:endParaRPr>
          </a:p>
          <a:p>
            <a:pPr marL="343080" indent="-343080">
              <a:lnSpc>
                <a:spcPct val="10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2800" spc="-1" strike="noStrike">
                <a:solidFill>
                  <a:srgbClr val="000000"/>
                </a:solidFill>
                <a:latin typeface="ＭＳ Ｐゴシック"/>
              </a:rPr>
              <a:t>　　ですーー</a:t>
            </a:r>
            <a:r>
              <a:rPr b="1" lang="en-US" sz="2800" spc="-1" strike="noStrike">
                <a:solidFill>
                  <a:srgbClr val="000000"/>
                </a:solidFill>
                <a:latin typeface="ＭＳ Ｐゴシック"/>
              </a:rPr>
              <a:t>des</a:t>
            </a:r>
            <a:r>
              <a:rPr b="1" lang="en-US" sz="2800" spc="-1" strike="noStrike">
                <a:solidFill>
                  <a:srgbClr val="ff0000"/>
                </a:solidFill>
                <a:latin typeface="ＭＳ Ｐゴシック"/>
              </a:rPr>
              <a:t>u       </a:t>
            </a:r>
            <a:r>
              <a:rPr b="1" lang="en-US" sz="2800" spc="-1" strike="noStrike">
                <a:solidFill>
                  <a:srgbClr val="000c0c"/>
                </a:solidFill>
                <a:latin typeface="ＭＳ Ｐゴシック"/>
              </a:rPr>
              <a:t> </a:t>
            </a:r>
            <a:r>
              <a:rPr b="1" lang="ja-JP" sz="2800" spc="-1" strike="noStrike">
                <a:solidFill>
                  <a:srgbClr val="000c0c"/>
                </a:solidFill>
                <a:latin typeface="ＭＳ Ｐゴシック"/>
              </a:rPr>
              <a:t>ますーー</a:t>
            </a:r>
            <a:r>
              <a:rPr b="1" lang="en-US" sz="2800" spc="-1" strike="noStrike">
                <a:solidFill>
                  <a:srgbClr val="000c0c"/>
                </a:solidFill>
                <a:latin typeface="ＭＳ Ｐゴシック"/>
              </a:rPr>
              <a:t>mas</a:t>
            </a:r>
            <a:r>
              <a:rPr b="1" lang="en-US" sz="2800" spc="-1" strike="noStrike">
                <a:solidFill>
                  <a:srgbClr val="ff0000"/>
                </a:solidFill>
                <a:latin typeface="ＭＳ Ｐゴシック"/>
              </a:rPr>
              <a:t>u</a:t>
            </a:r>
            <a:endParaRPr b="0" lang="en-US" sz="2800" spc="-1" strike="noStrike">
              <a:solidFill>
                <a:srgbClr val="000000"/>
              </a:solidFill>
              <a:latin typeface="Arial"/>
            </a:endParaRPr>
          </a:p>
          <a:p>
            <a:pPr marL="343080" indent="-343080">
              <a:lnSpc>
                <a:spcPct val="10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2800" spc="-1" strike="noStrike">
                <a:solidFill>
                  <a:srgbClr val="000c0c"/>
                </a:solidFill>
                <a:latin typeface="ＭＳ Ｐゴシック"/>
              </a:rPr>
              <a:t>３．語頭で無声子音に先立つイ、ウ</a:t>
            </a:r>
            <a:endParaRPr b="0" lang="en-US" sz="2800" spc="-1" strike="noStrike">
              <a:solidFill>
                <a:srgbClr val="000000"/>
              </a:solidFill>
              <a:latin typeface="Arial"/>
            </a:endParaRPr>
          </a:p>
          <a:p>
            <a:pPr marL="343080" indent="-343080">
              <a:lnSpc>
                <a:spcPct val="10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2800" spc="-1" strike="noStrike">
                <a:solidFill>
                  <a:srgbClr val="000c0c"/>
                </a:solidFill>
                <a:latin typeface="ＭＳ Ｐゴシック"/>
              </a:rPr>
              <a:t>　　生きるーー</a:t>
            </a:r>
            <a:r>
              <a:rPr b="1" lang="en-US" sz="2800" spc="-1" strike="noStrike">
                <a:solidFill>
                  <a:srgbClr val="ff0000"/>
                </a:solidFill>
                <a:latin typeface="ＭＳ Ｐゴシック"/>
              </a:rPr>
              <a:t>i</a:t>
            </a:r>
            <a:r>
              <a:rPr b="1" lang="en-US" sz="2800" spc="-1" strike="noStrike">
                <a:solidFill>
                  <a:srgbClr val="000c0c"/>
                </a:solidFill>
                <a:latin typeface="ＭＳ Ｐゴシック"/>
              </a:rPr>
              <a:t>kiru   </a:t>
            </a:r>
            <a:r>
              <a:rPr b="1" lang="ja-JP" sz="2800" spc="-1" strike="noStrike">
                <a:solidFill>
                  <a:srgbClr val="000c0c"/>
                </a:solidFill>
                <a:latin typeface="ＭＳ Ｐゴシック"/>
              </a:rPr>
              <a:t>移る</a:t>
            </a:r>
            <a:r>
              <a:rPr b="1" lang="en-US" sz="2800" spc="-1" strike="noStrike">
                <a:solidFill>
                  <a:srgbClr val="ff0000"/>
                </a:solidFill>
                <a:latin typeface="ＭＳ Ｐゴシック"/>
              </a:rPr>
              <a:t>u</a:t>
            </a:r>
            <a:r>
              <a:rPr b="1" lang="en-US" sz="2800" spc="-1" strike="noStrike">
                <a:solidFill>
                  <a:srgbClr val="000c0c"/>
                </a:solidFill>
                <a:latin typeface="ＭＳ Ｐゴシック"/>
              </a:rPr>
              <a:t>turu</a:t>
            </a:r>
            <a:endParaRPr b="0" lang="en-US" sz="2800" spc="-1" strike="noStrike">
              <a:solidFill>
                <a:srgbClr val="000000"/>
              </a:solidFill>
              <a:latin typeface="Arial"/>
            </a:endParaRPr>
          </a:p>
          <a:p>
            <a:pPr marL="343080" indent="-343080">
              <a:lnSpc>
                <a:spcPct val="10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a:p>
            <a:pPr marL="343080" indent="-343080">
              <a:lnSpc>
                <a:spcPct val="100000"/>
              </a:lnSpc>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800" spc="-1" strike="noStrike">
                <a:solidFill>
                  <a:srgbClr val="000000"/>
                </a:solidFill>
                <a:latin typeface="ＭＳ Ｐゴシック"/>
              </a:rPr>
              <a:t>※</a:t>
            </a:r>
            <a:r>
              <a:rPr b="1" lang="zh-CN" sz="2800" spc="-1" strike="noStrike">
                <a:solidFill>
                  <a:srgbClr val="000000"/>
                </a:solidFill>
                <a:latin typeface="ＭＳ Ｐゴシック"/>
              </a:rPr>
              <a:t>ただし助詞・助動詞が続いて一語となる場合は無声化しない。（無声子音にはさまれていない）</a:t>
            </a:r>
            <a:br>
              <a:rPr sz="2800"/>
            </a:br>
            <a:r>
              <a:rPr b="1" lang="zh-CN" sz="2800" spc="-1" strike="noStrike">
                <a:solidFill>
                  <a:srgbClr val="000000"/>
                </a:solidFill>
                <a:latin typeface="ＭＳ Ｐゴシック"/>
              </a:rPr>
              <a:t>例　：　　ありますが／書くでしょう</a:t>
            </a:r>
            <a:r>
              <a:rPr b="1" lang="zh-CN" sz="3200" spc="-1" strike="noStrike">
                <a:solidFill>
                  <a:srgbClr val="000000"/>
                </a:solidFill>
                <a:latin typeface="ＭＳ Ｐゴシック"/>
              </a:rPr>
              <a:t>　</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zh-CN" sz="4400" spc="-1" strike="noStrike">
              <a:solidFill>
                <a:srgbClr val="000000"/>
              </a:solidFill>
              <a:latin typeface="Arial"/>
            </a:endParaRPr>
          </a:p>
        </p:txBody>
      </p:sp>
      <p:sp>
        <p:nvSpPr>
          <p:cNvPr id="59" name="PlaceHolder 2"/>
          <p:cNvSpPr>
            <a:spLocks noGrp="1"/>
          </p:cNvSpPr>
          <p:nvPr>
            <p:ph/>
          </p:nvPr>
        </p:nvSpPr>
        <p:spPr>
          <a:xfrm>
            <a:off x="250920" y="1557360"/>
            <a:ext cx="8686800" cy="4525920"/>
          </a:xfrm>
          <a:prstGeom prst="rect">
            <a:avLst/>
          </a:prstGeom>
          <a:noFill/>
          <a:ln w="0">
            <a:noFill/>
          </a:ln>
        </p:spPr>
        <p:txBody>
          <a:bodyPr lIns="91440" rIns="91440" tIns="45720" bIns="45720" anchor="t">
            <a:normAutofit/>
          </a:bodyPr>
          <a:p>
            <a:pPr marL="343080" indent="-343080">
              <a:lnSpc>
                <a:spcPct val="90000"/>
              </a:lnSpc>
              <a:spcBef>
                <a:spcPts val="700"/>
              </a:spcBef>
              <a:buClr>
                <a:srgbClr val="000000"/>
              </a:buClr>
              <a:buFont typeface="ＭＳ Ｐゴシック"/>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zh-CN" sz="2800" spc="-1" strike="noStrike">
                <a:solidFill>
                  <a:srgbClr val="000000"/>
                </a:solidFill>
                <a:latin typeface="ＭＳ Ｐゴシック"/>
              </a:rPr>
              <a:t>最近は有声子音に挟まれた　ｉ　ｕ　も無声化する傾向にある。</a:t>
            </a:r>
            <a:endParaRPr b="0" lang="en-US" sz="2800" spc="-1" strike="noStrike">
              <a:solidFill>
                <a:srgbClr val="000000"/>
              </a:solidFill>
              <a:latin typeface="Arial"/>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2800" spc="-1" strike="noStrike">
                <a:solidFill>
                  <a:srgbClr val="000000"/>
                </a:solidFill>
                <a:latin typeface="ＭＳ Ｐゴシック"/>
              </a:rPr>
              <a:t>　</a:t>
            </a:r>
            <a:r>
              <a:rPr b="1" lang="zh-CN" sz="2800" spc="-1" strike="noStrike">
                <a:solidFill>
                  <a:srgbClr val="000000"/>
                </a:solidFill>
                <a:latin typeface="ＭＳ Ｐゴシック"/>
              </a:rPr>
              <a:t>例　：　Ｋ ｉ ＫｉＣ ｉ Ｇａｉ</a:t>
            </a:r>
            <a:r>
              <a:rPr b="1" lang="en-US" sz="2800" spc="-1" strike="noStrike">
                <a:solidFill>
                  <a:srgbClr val="000000"/>
                </a:solidFill>
                <a:latin typeface="ＭＳ Ｐゴシック"/>
              </a:rPr>
              <a:t>(</a:t>
            </a:r>
            <a:r>
              <a:rPr b="1" lang="zh-CN" sz="2800" spc="-1" strike="noStrike">
                <a:solidFill>
                  <a:srgbClr val="000000"/>
                </a:solidFill>
                <a:latin typeface="ＭＳ Ｐゴシック"/>
              </a:rPr>
              <a:t>聞き違い</a:t>
            </a:r>
            <a:r>
              <a:rPr b="1" lang="en-US" sz="2800" spc="-1" strike="noStrike">
                <a:solidFill>
                  <a:srgbClr val="000000"/>
                </a:solidFill>
                <a:latin typeface="ＭＳ Ｐゴシック"/>
              </a:rPr>
              <a:t>)</a:t>
            </a:r>
            <a:r>
              <a:rPr b="1" lang="zh-CN" sz="2800" spc="-1" strike="noStrike">
                <a:solidFill>
                  <a:srgbClr val="000000"/>
                </a:solidFill>
                <a:latin typeface="ＭＳ Ｐゴシック"/>
              </a:rPr>
              <a:t>　／</a:t>
            </a:r>
            <a:endParaRPr b="0" lang="en-US" sz="2800" spc="-1" strike="noStrike">
              <a:solidFill>
                <a:srgbClr val="000000"/>
              </a:solidFill>
              <a:latin typeface="Arial"/>
            </a:endParaRPr>
          </a:p>
          <a:p>
            <a:pPr marL="343080" indent="0">
              <a:lnSpc>
                <a:spcPct val="9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a:p>
            <a:pPr marL="343080" indent="-343080">
              <a:lnSpc>
                <a:spcPct val="90000"/>
              </a:lnSpc>
              <a:spcBef>
                <a:spcPts val="700"/>
              </a:spcBef>
              <a:buClr>
                <a:srgbClr val="000000"/>
              </a:buClr>
              <a:buFont typeface="ＭＳ Ｐゴシック"/>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zh-CN" sz="2800" spc="-1" strike="noStrike">
                <a:solidFill>
                  <a:srgbClr val="000000"/>
                </a:solidFill>
                <a:latin typeface="ＭＳ Ｐゴシック"/>
              </a:rPr>
              <a:t>無声化が続く場合、不明確をさけるために無声化しない場合もある。（無声化する音を２つ続けることは無い）</a:t>
            </a:r>
            <a:br>
              <a:rPr sz="2800"/>
            </a:br>
            <a:r>
              <a:rPr b="1" lang="zh-CN" sz="2800" spc="-1" strike="noStrike">
                <a:solidFill>
                  <a:srgbClr val="000000"/>
                </a:solidFill>
                <a:latin typeface="ＭＳ Ｐゴシック"/>
              </a:rPr>
              <a:t>例　：　Ｍ</a:t>
            </a:r>
            <a:r>
              <a:rPr b="1" lang="zh-CN" sz="2800" spc="-1" strike="noStrike">
                <a:solidFill>
                  <a:srgbClr val="ff0000"/>
                </a:solidFill>
                <a:latin typeface="ＭＳ Ｐゴシック"/>
              </a:rPr>
              <a:t>ｕ</a:t>
            </a:r>
            <a:r>
              <a:rPr b="1" lang="zh-CN" sz="2800" spc="-1" strike="noStrike">
                <a:solidFill>
                  <a:srgbClr val="000000"/>
                </a:solidFill>
                <a:latin typeface="ＭＳ Ｐゴシック"/>
              </a:rPr>
              <a:t>Ｓ ｕ Ｍｅ</a:t>
            </a:r>
            <a:r>
              <a:rPr b="1" lang="en-US" sz="2800" spc="-1" strike="noStrike">
                <a:solidFill>
                  <a:srgbClr val="000000"/>
                </a:solidFill>
                <a:latin typeface="ＭＳ Ｐゴシック"/>
              </a:rPr>
              <a:t>(</a:t>
            </a:r>
            <a:r>
              <a:rPr b="1" lang="zh-CN" sz="2800" spc="-1" strike="noStrike">
                <a:solidFill>
                  <a:srgbClr val="000000"/>
                </a:solidFill>
                <a:latin typeface="ＭＳ Ｐゴシック"/>
              </a:rPr>
              <a:t>娘</a:t>
            </a:r>
            <a:r>
              <a:rPr b="1" lang="en-US" sz="2800" spc="-1" strike="noStrike">
                <a:solidFill>
                  <a:srgbClr val="000000"/>
                </a:solidFill>
                <a:latin typeface="ＭＳ Ｐゴシック"/>
              </a:rPr>
              <a:t>)</a:t>
            </a:r>
            <a:r>
              <a:rPr b="1" lang="zh-CN" sz="2800" spc="-1" strike="noStrike">
                <a:solidFill>
                  <a:srgbClr val="000000"/>
                </a:solidFill>
                <a:latin typeface="ＭＳ Ｐゴシック"/>
              </a:rPr>
              <a:t>　／　Ｓ </a:t>
            </a:r>
            <a:r>
              <a:rPr b="1" lang="zh-CN" sz="2800" spc="-1" strike="noStrike">
                <a:solidFill>
                  <a:srgbClr val="ff0000"/>
                </a:solidFill>
                <a:latin typeface="ＭＳ Ｐゴシック"/>
              </a:rPr>
              <a:t>ｕ</a:t>
            </a:r>
            <a:r>
              <a:rPr b="1" lang="zh-CN" sz="2800" spc="-1" strike="noStrike">
                <a:solidFill>
                  <a:srgbClr val="000000"/>
                </a:solidFill>
                <a:latin typeface="ＭＳ Ｐゴシック"/>
              </a:rPr>
              <a:t> Ｇｉ</a:t>
            </a:r>
            <a:r>
              <a:rPr b="1" lang="en-US" sz="2800" spc="-1" strike="noStrike">
                <a:solidFill>
                  <a:srgbClr val="000000"/>
                </a:solidFill>
                <a:latin typeface="ＭＳ Ｐゴシック"/>
              </a:rPr>
              <a:t>(</a:t>
            </a:r>
            <a:r>
              <a:rPr b="1" lang="zh-CN" sz="2800" spc="-1" strike="noStrike">
                <a:solidFill>
                  <a:srgbClr val="000000"/>
                </a:solidFill>
                <a:latin typeface="ＭＳ Ｐゴシック"/>
              </a:rPr>
              <a:t>杉</a:t>
            </a:r>
            <a:r>
              <a:rPr b="1" lang="en-US" sz="2800" spc="-1" strike="noStrike">
                <a:solidFill>
                  <a:srgbClr val="000000"/>
                </a:solidFill>
                <a:latin typeface="ＭＳ Ｐゴシック"/>
              </a:rPr>
              <a:t>)</a:t>
            </a:r>
            <a:r>
              <a:rPr b="1" lang="zh-CN" sz="2800" spc="-1" strike="noStrike">
                <a:solidFill>
                  <a:srgbClr val="000000"/>
                </a:solidFill>
                <a:latin typeface="ＭＳ Ｐゴシック"/>
              </a:rPr>
              <a:t>　</a:t>
            </a:r>
            <a:r>
              <a:rPr b="1" lang="en-US" sz="2800" spc="-1" strike="noStrike">
                <a:solidFill>
                  <a:srgbClr val="000000"/>
                </a:solidFill>
                <a:latin typeface="ＭＳ Ｐゴシック"/>
              </a:rPr>
              <a:t>…</a:t>
            </a:r>
            <a:r>
              <a:rPr b="1" lang="zh-CN" sz="2800" spc="-1" strike="noStrike">
                <a:solidFill>
                  <a:srgbClr val="000000"/>
                </a:solidFill>
                <a:latin typeface="ＭＳ Ｐゴシック"/>
              </a:rPr>
              <a:t>等</a:t>
            </a:r>
            <a:br>
              <a:rPr sz="2800"/>
            </a:br>
            <a:r>
              <a:rPr b="1" lang="zh-CN" sz="2800" spc="-1" strike="noStrike">
                <a:solidFill>
                  <a:srgbClr val="000000"/>
                </a:solidFill>
                <a:latin typeface="ＭＳ Ｐゴシック"/>
              </a:rPr>
              <a:t> </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4320"/>
            <a:ext cx="822960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4400" spc="-1" strike="noStrike">
                <a:solidFill>
                  <a:srgbClr val="000000"/>
                </a:solidFill>
                <a:latin typeface="Arial"/>
              </a:rPr>
              <a:t>現代日本語のアクセント</a:t>
            </a:r>
            <a:endParaRPr b="0" lang="en-US" sz="4400" spc="-1" strike="noStrike">
              <a:solidFill>
                <a:srgbClr val="000000"/>
              </a:solidFill>
              <a:latin typeface="Arial"/>
            </a:endParaRPr>
          </a:p>
        </p:txBody>
      </p:sp>
      <p:sp>
        <p:nvSpPr>
          <p:cNvPr id="61" name="PlaceHolder 2"/>
          <p:cNvSpPr>
            <a:spLocks noGrp="1"/>
          </p:cNvSpPr>
          <p:nvPr>
            <p:ph/>
          </p:nvPr>
        </p:nvSpPr>
        <p:spPr>
          <a:xfrm>
            <a:off x="457200" y="1600200"/>
            <a:ext cx="8229600" cy="2549520"/>
          </a:xfrm>
          <a:prstGeom prst="rect">
            <a:avLst/>
          </a:prstGeom>
          <a:noFill/>
          <a:ln w="0">
            <a:noFill/>
          </a:ln>
        </p:spPr>
        <p:txBody>
          <a:bodyPr lIns="91440" rIns="91440" tIns="45720" bIns="45720" anchor="t">
            <a:normAutofit/>
          </a:bodyPr>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か</a:t>
            </a:r>
            <a:endParaRPr b="0" lang="en-US" sz="2800" spc="-1" strike="noStrike">
              <a:solidFill>
                <a:srgbClr val="000000"/>
              </a:solidFill>
              <a:latin typeface="Arial"/>
            </a:endParaRPr>
          </a:p>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いぬ　ねこ</a:t>
            </a:r>
            <a:endParaRPr b="0" lang="en-US" sz="2800" spc="-1" strike="noStrike">
              <a:solidFill>
                <a:srgbClr val="000000"/>
              </a:solidFill>
              <a:latin typeface="Arial"/>
            </a:endParaRPr>
          </a:p>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ゆたか　つくる　わたし</a:t>
            </a:r>
            <a:endParaRPr b="0" lang="en-US" sz="2800" spc="-1" strike="noStrike">
              <a:solidFill>
                <a:srgbClr val="000000"/>
              </a:solidFill>
              <a:latin typeface="Arial"/>
            </a:endParaRPr>
          </a:p>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いらいら　ほがらか　ゆっくり　こいびと　</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250560" y="274320"/>
            <a:ext cx="871380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4000" spc="-1" strike="noStrike">
                <a:solidFill>
                  <a:srgbClr val="000000"/>
                </a:solidFill>
                <a:latin typeface="Arial"/>
              </a:rPr>
              <a:t>いろは歌で追う日本語の音変化の歴史</a:t>
            </a:r>
            <a:endParaRPr b="0" lang="en-US" sz="4000" spc="-1" strike="noStrike">
              <a:solidFill>
                <a:srgbClr val="000000"/>
              </a:solidFill>
              <a:latin typeface="Arial"/>
            </a:endParaRPr>
          </a:p>
        </p:txBody>
      </p:sp>
      <p:sp>
        <p:nvSpPr>
          <p:cNvPr id="63" name="PlaceHolder 2"/>
          <p:cNvSpPr>
            <a:spLocks noGrp="1"/>
          </p:cNvSpPr>
          <p:nvPr>
            <p:ph/>
          </p:nvPr>
        </p:nvSpPr>
        <p:spPr>
          <a:xfrm>
            <a:off x="395280" y="1557360"/>
            <a:ext cx="8507520" cy="4525920"/>
          </a:xfrm>
          <a:prstGeom prst="rect">
            <a:avLst/>
          </a:prstGeom>
          <a:noFill/>
          <a:ln w="0">
            <a:noFill/>
          </a:ln>
        </p:spPr>
        <p:txBody>
          <a:bodyPr lIns="91440" rIns="91440" tIns="45720" bIns="45720" anchor="t">
            <a:normAutofit/>
          </a:bodyPr>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いろはにほへと　ちりぬるを</a:t>
            </a:r>
            <a:br>
              <a:rPr sz="2800"/>
            </a:br>
            <a:r>
              <a:rPr b="0" lang="ja-JP" sz="2800" spc="-1" strike="noStrike">
                <a:solidFill>
                  <a:srgbClr val="000000"/>
                </a:solidFill>
                <a:latin typeface="Arial"/>
              </a:rPr>
              <a:t>わかよたれそ　　つねならむ</a:t>
            </a:r>
            <a:br>
              <a:rPr sz="2800"/>
            </a:br>
            <a:r>
              <a:rPr b="0" lang="ja-JP" sz="2800" spc="-1" strike="noStrike">
                <a:solidFill>
                  <a:srgbClr val="000000"/>
                </a:solidFill>
                <a:latin typeface="Arial"/>
              </a:rPr>
              <a:t>うゐのおくやま　 けふこえて</a:t>
            </a:r>
            <a:br>
              <a:rPr sz="2800"/>
            </a:br>
            <a:r>
              <a:rPr b="0" lang="ja-JP" sz="2800" spc="-1" strike="noStrike">
                <a:solidFill>
                  <a:srgbClr val="000000"/>
                </a:solidFill>
                <a:latin typeface="Arial"/>
              </a:rPr>
              <a:t>あさきゆめみし　ゑひもせす </a:t>
            </a:r>
            <a:endParaRPr b="0" lang="en-US" sz="2800" spc="-1" strike="noStrike">
              <a:solidFill>
                <a:srgbClr val="000000"/>
              </a:solidFill>
              <a:latin typeface="Arial"/>
            </a:endParaRPr>
          </a:p>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a:p>
            <a:pPr marL="343080" indent="-343080">
              <a:spcBef>
                <a:spcPts val="700"/>
              </a:spcBef>
              <a:buClr>
                <a:srgbClr val="c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c00000"/>
                </a:solidFill>
                <a:latin typeface="Arial"/>
              </a:rPr>
              <a:t>仮名</a:t>
            </a:r>
            <a:r>
              <a:rPr b="0" lang="en-US" sz="2800" spc="-1" strike="noStrike">
                <a:solidFill>
                  <a:srgbClr val="c00000"/>
                </a:solidFill>
                <a:latin typeface="Arial"/>
              </a:rPr>
              <a:t>47</a:t>
            </a:r>
            <a:r>
              <a:rPr b="0" lang="ja-JP" sz="2800" spc="-1" strike="noStrike">
                <a:solidFill>
                  <a:srgbClr val="c00000"/>
                </a:solidFill>
                <a:latin typeface="Arial"/>
              </a:rPr>
              <a:t>文字</a:t>
            </a:r>
            <a:r>
              <a:rPr b="0" lang="ja-JP" sz="2800" spc="-1" strike="noStrike">
                <a:solidFill>
                  <a:srgbClr val="000000"/>
                </a:solidFill>
                <a:latin typeface="Arial"/>
              </a:rPr>
              <a:t>を重複せずに使って作られた歌で、平安時代中期頃には存在していたとされている。 </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zh-CN" sz="4400" spc="-1" strike="noStrike">
              <a:solidFill>
                <a:srgbClr val="000000"/>
              </a:solidFill>
              <a:latin typeface="Arial"/>
            </a:endParaRPr>
          </a:p>
        </p:txBody>
      </p:sp>
      <p:sp>
        <p:nvSpPr>
          <p:cNvPr id="65" name="PlaceHolder 2"/>
          <p:cNvSpPr>
            <a:spLocks noGrp="1"/>
          </p:cNvSpPr>
          <p:nvPr>
            <p:ph/>
          </p:nvPr>
        </p:nvSpPr>
        <p:spPr>
          <a:xfrm>
            <a:off x="324000" y="1413000"/>
            <a:ext cx="8604000" cy="4525920"/>
          </a:xfrm>
          <a:prstGeom prst="rect">
            <a:avLst/>
          </a:prstGeom>
          <a:noFill/>
          <a:ln w="0">
            <a:noFill/>
          </a:ln>
        </p:spPr>
        <p:txBody>
          <a:bodyPr lIns="91440" rIns="91440" tIns="45720" bIns="45720" anchor="t">
            <a:normAutofit/>
          </a:bodyPr>
          <a:p>
            <a:pPr marL="343080" indent="-34308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現代日本語の発音では、</a:t>
            </a:r>
            <a:endParaRPr b="0" lang="en-US" sz="2800" spc="-1" strike="noStrike">
              <a:solidFill>
                <a:srgbClr val="000000"/>
              </a:solidFill>
              <a:latin typeface="Arial"/>
            </a:endParaRPr>
          </a:p>
          <a:p>
            <a:pPr marL="343080" indent="0">
              <a:lnSpc>
                <a:spcPct val="9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a:p>
            <a:pPr marL="343080" indent="-34308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いろわにおえど　ちりぬるお</a:t>
            </a:r>
            <a:br>
              <a:rPr sz="2800"/>
            </a:br>
            <a:r>
              <a:rPr b="0" lang="ja-JP" sz="2800" spc="-1" strike="noStrike">
                <a:solidFill>
                  <a:srgbClr val="000000"/>
                </a:solidFill>
                <a:latin typeface="Arial"/>
              </a:rPr>
              <a:t>わがよたれぞ　  つねならん</a:t>
            </a:r>
            <a:br>
              <a:rPr sz="2800"/>
            </a:br>
            <a:r>
              <a:rPr b="0" lang="ja-JP" sz="2800" spc="-1" strike="noStrike">
                <a:solidFill>
                  <a:srgbClr val="000000"/>
                </a:solidFill>
                <a:latin typeface="Arial"/>
              </a:rPr>
              <a:t>ういのおくやま　 きょーこえて</a:t>
            </a:r>
            <a:br>
              <a:rPr sz="2800"/>
            </a:br>
            <a:r>
              <a:rPr b="0" lang="ja-JP" sz="2800" spc="-1" strike="noStrike">
                <a:solidFill>
                  <a:srgbClr val="000000"/>
                </a:solidFill>
                <a:latin typeface="Arial"/>
              </a:rPr>
              <a:t>あさきゆめみじ　えーもせず </a:t>
            </a:r>
            <a:endParaRPr b="0" lang="en-US" sz="2800" spc="-1" strike="noStrike">
              <a:solidFill>
                <a:srgbClr val="000000"/>
              </a:solidFill>
              <a:latin typeface="Arial"/>
            </a:endParaRPr>
          </a:p>
          <a:p>
            <a:pPr marL="343080" indent="0">
              <a:lnSpc>
                <a:spcPct val="9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　 のように読みますが、当時は歴史的仮名遣いのとおりに読んでいたと考えられている。 </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zh-CN" sz="4400" spc="-1" strike="noStrike">
              <a:solidFill>
                <a:srgbClr val="000000"/>
              </a:solidFill>
              <a:latin typeface="Arial"/>
            </a:endParaRPr>
          </a:p>
        </p:txBody>
      </p:sp>
      <p:sp>
        <p:nvSpPr>
          <p:cNvPr id="67" name="PlaceHolder 2"/>
          <p:cNvSpPr>
            <a:spLocks noGrp="1"/>
          </p:cNvSpPr>
          <p:nvPr>
            <p:ph/>
          </p:nvPr>
        </p:nvSpPr>
        <p:spPr>
          <a:xfrm>
            <a:off x="457200" y="1600200"/>
            <a:ext cx="8229600" cy="4525920"/>
          </a:xfrm>
          <a:prstGeom prst="rect">
            <a:avLst/>
          </a:prstGeom>
          <a:noFill/>
          <a:ln w="0">
            <a:noFill/>
          </a:ln>
        </p:spPr>
        <p:txBody>
          <a:bodyPr lIns="91440" rIns="91440" tIns="45720" bIns="45720" anchor="t">
            <a:normAutofit/>
          </a:bodyPr>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ところでいろは歌は七五調の歌ですが、「わがよたれぞ」の部分が六文字しかありません。一説によると、この部分は本来は「わがよたれそえ」であったとされてる。 </a:t>
            </a:r>
            <a:endParaRPr b="0" lang="en-US" sz="2800" spc="-1" strike="noStrike">
              <a:solidFill>
                <a:srgbClr val="000000"/>
              </a:solidFill>
              <a:latin typeface="Arial"/>
            </a:endParaRPr>
          </a:p>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ただ、こういう説は、必ずしも広く認められているわけではない。 </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457200" y="274320"/>
            <a:ext cx="822960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4000" spc="-1" strike="noStrike">
                <a:solidFill>
                  <a:srgbClr val="000000"/>
                </a:solidFill>
                <a:latin typeface="Arial"/>
              </a:rPr>
              <a:t>古代日本語（６</a:t>
            </a:r>
            <a:r>
              <a:rPr b="1" lang="en-US" sz="4000" spc="-1" strike="noStrike">
                <a:solidFill>
                  <a:srgbClr val="000000"/>
                </a:solidFill>
                <a:latin typeface="Arial"/>
              </a:rPr>
              <a:t>〜</a:t>
            </a:r>
            <a:r>
              <a:rPr b="1" lang="ja-JP" sz="4000" spc="-1" strike="noStrike">
                <a:solidFill>
                  <a:srgbClr val="000000"/>
                </a:solidFill>
                <a:latin typeface="Arial"/>
              </a:rPr>
              <a:t>７世紀？、古墳時代後期</a:t>
            </a:r>
            <a:r>
              <a:rPr b="1" lang="en-US" sz="4000" spc="-1" strike="noStrike">
                <a:solidFill>
                  <a:srgbClr val="000000"/>
                </a:solidFill>
                <a:latin typeface="Arial"/>
              </a:rPr>
              <a:t>〜</a:t>
            </a:r>
            <a:r>
              <a:rPr b="1" lang="ja-JP" sz="4000" spc="-1" strike="noStrike">
                <a:solidFill>
                  <a:srgbClr val="000000"/>
                </a:solidFill>
                <a:latin typeface="Arial"/>
              </a:rPr>
              <a:t>飛鳥時代？）</a:t>
            </a:r>
            <a:r>
              <a:rPr b="0" lang="ja-JP" sz="4000" spc="-1" strike="noStrike">
                <a:solidFill>
                  <a:srgbClr val="000000"/>
                </a:solidFill>
                <a:latin typeface="Arial"/>
              </a:rPr>
              <a:t> </a:t>
            </a:r>
            <a:endParaRPr b="0" lang="en-US" sz="4000" spc="-1" strike="noStrike">
              <a:solidFill>
                <a:srgbClr val="000000"/>
              </a:solidFill>
              <a:latin typeface="Arial"/>
            </a:endParaRPr>
          </a:p>
        </p:txBody>
      </p:sp>
      <p:sp>
        <p:nvSpPr>
          <p:cNvPr id="69" name="PlaceHolder 2"/>
          <p:cNvSpPr>
            <a:spLocks noGrp="1"/>
          </p:cNvSpPr>
          <p:nvPr>
            <p:ph/>
          </p:nvPr>
        </p:nvSpPr>
        <p:spPr>
          <a:xfrm>
            <a:off x="250560" y="1599840"/>
            <a:ext cx="8435880" cy="4924440"/>
          </a:xfrm>
          <a:prstGeom prst="rect">
            <a:avLst/>
          </a:prstGeom>
          <a:noFill/>
          <a:ln w="0">
            <a:noFill/>
          </a:ln>
        </p:spPr>
        <p:txBody>
          <a:bodyPr lIns="91440" rIns="91440" tIns="45720" bIns="45720" anchor="t">
            <a:normAutofit fontScale="98427" lnSpcReduction="10000"/>
          </a:bodyPr>
          <a:p>
            <a:pPr marL="343080" indent="-34308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いろぱにぽぺど　　てぃりぬるうぉ</a:t>
            </a:r>
            <a:br>
              <a:rPr sz="2800"/>
            </a:br>
            <a:r>
              <a:rPr b="0" lang="ja-JP" sz="2800" spc="-1" strike="noStrike">
                <a:solidFill>
                  <a:srgbClr val="000000"/>
                </a:solidFill>
                <a:latin typeface="Arial"/>
              </a:rPr>
              <a:t>わがよたれちょえ　とぅねならむ</a:t>
            </a:r>
            <a:br>
              <a:rPr sz="2800"/>
            </a:br>
            <a:r>
              <a:rPr b="0" lang="ja-JP" sz="2800" spc="-1" strike="noStrike">
                <a:solidFill>
                  <a:srgbClr val="000000"/>
                </a:solidFill>
                <a:latin typeface="Arial"/>
              </a:rPr>
              <a:t>ううぃのおくやま　　けぷこいぇて</a:t>
            </a:r>
            <a:br>
              <a:rPr sz="2800"/>
            </a:br>
            <a:r>
              <a:rPr b="0" lang="ja-JP" sz="2800" spc="-1" strike="noStrike">
                <a:solidFill>
                  <a:srgbClr val="000000"/>
                </a:solidFill>
                <a:latin typeface="Arial"/>
              </a:rPr>
              <a:t>あちゃきゆめみぢ　うぇぴもちぇぢゅ </a:t>
            </a:r>
            <a:endParaRPr b="0" lang="en-US" sz="2800" spc="-1" strike="noStrike">
              <a:solidFill>
                <a:srgbClr val="000000"/>
              </a:solidFill>
              <a:latin typeface="Arial"/>
            </a:endParaRPr>
          </a:p>
          <a:p>
            <a:pPr marL="343080" indent="0">
              <a:lnSpc>
                <a:spcPct val="9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a:p>
            <a:pPr marL="343080" indent="-34308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古い時代の日本語では、ハ行は「パ行」の音であったとされています。サ行は「シャ行」または「チャ行」、あるいは「ツァ行」の音だったとされ</a:t>
            </a:r>
            <a:endParaRPr b="0" lang="en-US" sz="2800" spc="-1" strike="noStrike">
              <a:solidFill>
                <a:srgbClr val="000000"/>
              </a:solidFill>
              <a:latin typeface="Arial"/>
            </a:endParaRPr>
          </a:p>
          <a:p>
            <a:pPr marL="343080" indent="-34308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a:t>
            </a:r>
            <a:r>
              <a:rPr b="0" lang="en-US" sz="2800" spc="-1" strike="noStrike">
                <a:solidFill>
                  <a:srgbClr val="000000"/>
                </a:solidFill>
                <a:latin typeface="Arial"/>
              </a:rPr>
              <a:t>※</a:t>
            </a:r>
            <a:r>
              <a:rPr b="0" lang="ja-JP" sz="2800" spc="-1" strike="noStrike">
                <a:solidFill>
                  <a:srgbClr val="000000"/>
                </a:solidFill>
                <a:latin typeface="Arial"/>
              </a:rPr>
              <a:t>ここでは「チャ行」音を採用しています）、タ行は「タ、ティ、トゥ、テ、ト」、ヤ行は「ヤ、ユ、イェ、ヨ」、ワ行は「ワ、ウィ、ウェ、ウォ」でした。 </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320"/>
            <a:ext cx="822960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4400" spc="-1" strike="noStrike">
                <a:solidFill>
                  <a:srgbClr val="000000"/>
                </a:solidFill>
                <a:latin typeface="Arial"/>
              </a:rPr>
              <a:t>上代日本語（８世紀、奈良時代）</a:t>
            </a:r>
            <a:r>
              <a:rPr b="0" lang="ja-JP" sz="4400" spc="-1" strike="noStrike">
                <a:solidFill>
                  <a:srgbClr val="000000"/>
                </a:solidFill>
                <a:latin typeface="Arial"/>
              </a:rPr>
              <a:t> </a:t>
            </a:r>
            <a:endParaRPr b="0" lang="en-US" sz="4400" spc="-1" strike="noStrike">
              <a:solidFill>
                <a:srgbClr val="000000"/>
              </a:solidFill>
              <a:latin typeface="Arial"/>
            </a:endParaRPr>
          </a:p>
        </p:txBody>
      </p:sp>
      <p:sp>
        <p:nvSpPr>
          <p:cNvPr id="71" name="PlaceHolder 2"/>
          <p:cNvSpPr>
            <a:spLocks noGrp="1"/>
          </p:cNvSpPr>
          <p:nvPr>
            <p:ph/>
          </p:nvPr>
        </p:nvSpPr>
        <p:spPr>
          <a:xfrm>
            <a:off x="250920" y="1600200"/>
            <a:ext cx="8642160" cy="4525920"/>
          </a:xfrm>
          <a:prstGeom prst="rect">
            <a:avLst/>
          </a:prstGeom>
          <a:noFill/>
          <a:ln w="0">
            <a:noFill/>
          </a:ln>
        </p:spPr>
        <p:txBody>
          <a:bodyPr lIns="91440" rIns="91440" tIns="45720" bIns="45720" anchor="t">
            <a:normAutofit/>
          </a:bodyPr>
          <a:p>
            <a:pPr marL="343080" indent="-34308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いろふぁにふぉふぇど　てぃりぬるうぉ</a:t>
            </a:r>
            <a:br>
              <a:rPr sz="2800"/>
            </a:br>
            <a:r>
              <a:rPr b="0" lang="ja-JP" sz="2800" spc="-1" strike="noStrike">
                <a:solidFill>
                  <a:srgbClr val="000000"/>
                </a:solidFill>
                <a:latin typeface="Arial"/>
              </a:rPr>
              <a:t>わがよたれちょえ　      とぅねならむ</a:t>
            </a:r>
            <a:br>
              <a:rPr sz="2800"/>
            </a:br>
            <a:r>
              <a:rPr b="0" lang="ja-JP" sz="2800" spc="-1" strike="noStrike">
                <a:solidFill>
                  <a:srgbClr val="000000"/>
                </a:solidFill>
                <a:latin typeface="Arial"/>
              </a:rPr>
              <a:t>ううぃのおくやま　        けふこいぇて</a:t>
            </a:r>
            <a:br>
              <a:rPr sz="2800"/>
            </a:br>
            <a:r>
              <a:rPr b="0" lang="ja-JP" sz="2800" spc="-1" strike="noStrike">
                <a:solidFill>
                  <a:srgbClr val="000000"/>
                </a:solidFill>
                <a:latin typeface="Arial"/>
              </a:rPr>
              <a:t>あちゃきゆめみぢ　      うぇふぃもちぇぢゅ </a:t>
            </a:r>
            <a:endParaRPr b="0" lang="en-US" sz="2800" spc="-1" strike="noStrike">
              <a:solidFill>
                <a:srgbClr val="000000"/>
              </a:solidFill>
              <a:latin typeface="Arial"/>
            </a:endParaRPr>
          </a:p>
          <a:p>
            <a:pPr marL="343080" indent="0">
              <a:lnSpc>
                <a:spcPct val="9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a:p>
            <a:pPr marL="343080" indent="-34308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８世紀の奈良時代頃に、ハ行、つまり「パ行」の音が、「ファ行」の音になったとされている。</a:t>
            </a:r>
            <a:endParaRPr b="0" lang="en-US" sz="2800" spc="-1" strike="noStrike">
              <a:solidFill>
                <a:srgbClr val="000000"/>
              </a:solidFill>
              <a:latin typeface="Arial"/>
            </a:endParaRPr>
          </a:p>
          <a:p>
            <a:pPr marL="343080" indent="-34308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上代特殊仮名遣いは、引き続き反映させていない。</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274320"/>
            <a:ext cx="822960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4000" spc="-1" strike="noStrike">
                <a:solidFill>
                  <a:srgbClr val="000000"/>
                </a:solidFill>
                <a:latin typeface="Arial"/>
              </a:rPr>
              <a:t>前期中古日本語（１０世紀、平安時代前期）</a:t>
            </a:r>
            <a:r>
              <a:rPr b="0" lang="ja-JP" sz="4000" spc="-1" strike="noStrike">
                <a:solidFill>
                  <a:srgbClr val="000000"/>
                </a:solidFill>
                <a:latin typeface="Arial"/>
              </a:rPr>
              <a:t> </a:t>
            </a:r>
            <a:endParaRPr b="0" lang="en-US" sz="4000" spc="-1" strike="noStrike">
              <a:solidFill>
                <a:srgbClr val="000000"/>
              </a:solidFill>
              <a:latin typeface="Arial"/>
            </a:endParaRPr>
          </a:p>
        </p:txBody>
      </p:sp>
      <p:sp>
        <p:nvSpPr>
          <p:cNvPr id="73" name="PlaceHolder 2"/>
          <p:cNvSpPr>
            <a:spLocks noGrp="1"/>
          </p:cNvSpPr>
          <p:nvPr>
            <p:ph/>
          </p:nvPr>
        </p:nvSpPr>
        <p:spPr>
          <a:xfrm>
            <a:off x="250920" y="1628640"/>
            <a:ext cx="8640720" cy="4525920"/>
          </a:xfrm>
          <a:prstGeom prst="rect">
            <a:avLst/>
          </a:prstGeom>
          <a:noFill/>
          <a:ln w="0">
            <a:noFill/>
          </a:ln>
        </p:spPr>
        <p:txBody>
          <a:bodyPr lIns="91440" rIns="91440" tIns="45720" bIns="45720" anchor="t">
            <a:normAutofit/>
          </a:bodyPr>
          <a:p>
            <a:pPr marL="343080" indent="-34308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いろふぁにふぉふぇど　てぃりぬるうぉ</a:t>
            </a:r>
            <a:br>
              <a:rPr sz="2800"/>
            </a:br>
            <a:r>
              <a:rPr b="0" lang="ja-JP" sz="2800" spc="-1" strike="noStrike">
                <a:solidFill>
                  <a:srgbClr val="000000"/>
                </a:solidFill>
                <a:latin typeface="Arial"/>
              </a:rPr>
              <a:t>わがよたれちょいぇ　   とぅねならむ</a:t>
            </a:r>
            <a:br>
              <a:rPr sz="2800"/>
            </a:br>
            <a:r>
              <a:rPr b="0" lang="ja-JP" sz="2800" spc="-1" strike="noStrike">
                <a:solidFill>
                  <a:srgbClr val="000000"/>
                </a:solidFill>
                <a:latin typeface="Arial"/>
              </a:rPr>
              <a:t>ううぃのおくやま　        けふこいぇて</a:t>
            </a:r>
            <a:br>
              <a:rPr sz="2800"/>
            </a:br>
            <a:r>
              <a:rPr b="0" lang="ja-JP" sz="2800" spc="-1" strike="noStrike">
                <a:solidFill>
                  <a:srgbClr val="000000"/>
                </a:solidFill>
                <a:latin typeface="Arial"/>
              </a:rPr>
              <a:t>あちゃきゆめみぢ　     うぇふぃもちぇぢゅ</a:t>
            </a:r>
            <a:endParaRPr b="0" lang="en-US" sz="2800" spc="-1" strike="noStrike">
              <a:solidFill>
                <a:srgbClr val="000000"/>
              </a:solidFill>
              <a:latin typeface="Arial"/>
            </a:endParaRPr>
          </a:p>
          <a:p>
            <a:pPr marL="343080" indent="0">
              <a:lnSpc>
                <a:spcPct val="9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a:p>
            <a:pPr marL="343080" indent="-34308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平安時代に入り９世紀頃になると、上代特殊仮名遣いはほぼ消滅した。</a:t>
            </a:r>
            <a:endParaRPr b="0" lang="en-US" sz="2800" spc="-1" strike="noStrike">
              <a:solidFill>
                <a:srgbClr val="000000"/>
              </a:solidFill>
              <a:latin typeface="Arial"/>
            </a:endParaRPr>
          </a:p>
          <a:p>
            <a:pPr marL="343080" indent="-34308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１０世紀には「ア行のエ」と「ヤ行のエ」の区別がなくなり、どちらも「イェ」と発音されるようになる。</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4320"/>
            <a:ext cx="822960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4000" spc="-1" strike="noStrike">
                <a:solidFill>
                  <a:srgbClr val="000000"/>
                </a:solidFill>
                <a:latin typeface="Arial"/>
              </a:rPr>
              <a:t>後期中古日本語（１１世紀、平安時代中期）</a:t>
            </a:r>
            <a:r>
              <a:rPr b="0" lang="ja-JP" sz="4000" spc="-1" strike="noStrike">
                <a:solidFill>
                  <a:srgbClr val="000000"/>
                </a:solidFill>
                <a:latin typeface="Arial"/>
              </a:rPr>
              <a:t> </a:t>
            </a:r>
            <a:endParaRPr b="0" lang="en-US" sz="4000" spc="-1" strike="noStrike">
              <a:solidFill>
                <a:srgbClr val="000000"/>
              </a:solidFill>
              <a:latin typeface="Arial"/>
            </a:endParaRPr>
          </a:p>
        </p:txBody>
      </p:sp>
      <p:sp>
        <p:nvSpPr>
          <p:cNvPr id="75" name="PlaceHolder 2"/>
          <p:cNvSpPr>
            <a:spLocks noGrp="1"/>
          </p:cNvSpPr>
          <p:nvPr>
            <p:ph/>
          </p:nvPr>
        </p:nvSpPr>
        <p:spPr>
          <a:xfrm>
            <a:off x="457200" y="1600200"/>
            <a:ext cx="8229600" cy="4525920"/>
          </a:xfrm>
          <a:prstGeom prst="rect">
            <a:avLst/>
          </a:prstGeom>
          <a:noFill/>
          <a:ln w="0">
            <a:noFill/>
          </a:ln>
        </p:spPr>
        <p:txBody>
          <a:bodyPr lIns="91440" rIns="91440" tIns="45720" bIns="45720" anchor="t">
            <a:normAutofit/>
          </a:bodyPr>
          <a:p>
            <a:pPr marL="343080" indent="-34308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いろわにうぉうぇど　  てぃりぬるうぉ</a:t>
            </a:r>
            <a:br>
              <a:rPr sz="2800"/>
            </a:br>
            <a:r>
              <a:rPr b="0" lang="ja-JP" sz="2800" spc="-1" strike="noStrike">
                <a:solidFill>
                  <a:srgbClr val="000000"/>
                </a:solidFill>
                <a:latin typeface="Arial"/>
              </a:rPr>
              <a:t>わがよたれちょいぇ　とぅねならむ</a:t>
            </a:r>
            <a:br>
              <a:rPr sz="2800"/>
            </a:br>
            <a:r>
              <a:rPr b="0" lang="ja-JP" sz="2800" spc="-1" strike="noStrike">
                <a:solidFill>
                  <a:srgbClr val="000000"/>
                </a:solidFill>
                <a:latin typeface="Arial"/>
              </a:rPr>
              <a:t>ううぃのうぉくやま　   けうこいぇて</a:t>
            </a:r>
            <a:br>
              <a:rPr sz="2800"/>
            </a:br>
            <a:r>
              <a:rPr b="0" lang="ja-JP" sz="2800" spc="-1" strike="noStrike">
                <a:solidFill>
                  <a:srgbClr val="000000"/>
                </a:solidFill>
                <a:latin typeface="Arial"/>
              </a:rPr>
              <a:t>あちゃきゆめみぢ　   うぇうぃもちぇぢゅ </a:t>
            </a:r>
            <a:endParaRPr b="0" lang="en-US" sz="2800" spc="-1" strike="noStrike">
              <a:solidFill>
                <a:srgbClr val="000000"/>
              </a:solidFill>
              <a:latin typeface="Arial"/>
            </a:endParaRPr>
          </a:p>
          <a:p>
            <a:pPr marL="343080" indent="0">
              <a:lnSpc>
                <a:spcPct val="9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a:p>
            <a:pPr marL="343080" indent="-34308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１１世紀には、ハ行、つまり「ファ行」の音が、語頭を除いて「ワ行」の音になります。また、「ア行のオ」と「ワ行のヲ」の区別がなくなり、どちらも「ウォ」と発音されるようになります。 </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457200" y="274320"/>
            <a:ext cx="822960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4000" spc="-1" strike="noStrike">
                <a:solidFill>
                  <a:srgbClr val="000000"/>
                </a:solidFill>
                <a:latin typeface="Arial"/>
              </a:rPr>
              <a:t>前期中世日本語（１２世紀、平安時代末期）</a:t>
            </a:r>
            <a:r>
              <a:rPr b="0" lang="ja-JP" sz="4000" spc="-1" strike="noStrike">
                <a:solidFill>
                  <a:srgbClr val="000000"/>
                </a:solidFill>
                <a:latin typeface="Arial"/>
              </a:rPr>
              <a:t> </a:t>
            </a:r>
            <a:endParaRPr b="0" lang="en-US" sz="4000" spc="-1" strike="noStrike">
              <a:solidFill>
                <a:srgbClr val="000000"/>
              </a:solidFill>
              <a:latin typeface="Arial"/>
            </a:endParaRPr>
          </a:p>
        </p:txBody>
      </p:sp>
      <p:sp>
        <p:nvSpPr>
          <p:cNvPr id="77" name="PlaceHolder 2"/>
          <p:cNvSpPr>
            <a:spLocks noGrp="1"/>
          </p:cNvSpPr>
          <p:nvPr>
            <p:ph/>
          </p:nvPr>
        </p:nvSpPr>
        <p:spPr>
          <a:xfrm>
            <a:off x="457200" y="1600200"/>
            <a:ext cx="8229600" cy="4525920"/>
          </a:xfrm>
          <a:prstGeom prst="rect">
            <a:avLst/>
          </a:prstGeom>
          <a:noFill/>
          <a:ln w="0">
            <a:noFill/>
          </a:ln>
        </p:spPr>
        <p:txBody>
          <a:bodyPr lIns="91440" rIns="91440" tIns="45720" bIns="45720" anchor="t">
            <a:normAutofit fontScale="94365"/>
          </a:bodyPr>
          <a:p>
            <a:pPr marL="343080" indent="-343080">
              <a:lnSpc>
                <a:spcPct val="8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いろわにうぉいぇど　てぃりぬるうぉ</a:t>
            </a:r>
            <a:br>
              <a:rPr sz="2800"/>
            </a:br>
            <a:r>
              <a:rPr b="0" lang="ja-JP" sz="2800" spc="-1" strike="noStrike">
                <a:solidFill>
                  <a:srgbClr val="000000"/>
                </a:solidFill>
                <a:latin typeface="Arial"/>
              </a:rPr>
              <a:t>わがよたれそいぇ　とぅねならん</a:t>
            </a:r>
            <a:br>
              <a:rPr sz="2800"/>
            </a:br>
            <a:r>
              <a:rPr b="0" lang="ja-JP" sz="2800" spc="-1" strike="noStrike">
                <a:solidFill>
                  <a:srgbClr val="000000"/>
                </a:solidFill>
                <a:latin typeface="Arial"/>
              </a:rPr>
              <a:t>ういのうぉくやま　けうこいぇて</a:t>
            </a:r>
            <a:br>
              <a:rPr sz="2800"/>
            </a:br>
            <a:r>
              <a:rPr b="0" lang="ja-JP" sz="2800" spc="-1" strike="noStrike">
                <a:solidFill>
                  <a:srgbClr val="000000"/>
                </a:solidFill>
                <a:latin typeface="Arial"/>
              </a:rPr>
              <a:t>あさきゆめみじ　いぇいもしぇず </a:t>
            </a:r>
            <a:endParaRPr b="0" lang="en-US" sz="2800" spc="-1" strike="noStrike">
              <a:solidFill>
                <a:srgbClr val="000000"/>
              </a:solidFill>
              <a:latin typeface="Arial"/>
            </a:endParaRPr>
          </a:p>
          <a:p>
            <a:pPr marL="343080" indent="0">
              <a:lnSpc>
                <a:spcPct val="8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a:p>
            <a:pPr marL="343080" indent="-343080">
              <a:lnSpc>
                <a:spcPct val="8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中世になると、サ行は「サ、シ、ス、シェ、ソ」と発音されるようになる。</a:t>
            </a:r>
            <a:endParaRPr b="0" lang="en-US" sz="2800" spc="-1" strike="noStrike">
              <a:solidFill>
                <a:srgbClr val="000000"/>
              </a:solidFill>
              <a:latin typeface="Arial"/>
            </a:endParaRPr>
          </a:p>
          <a:p>
            <a:pPr marL="343080" indent="-343080">
              <a:lnSpc>
                <a:spcPct val="8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平安時代末期の１２世紀には、「ア行のイ」と「ワ行のイ」の区別がなくなり、どちらも「イ」と発音されるようになります。「ワ行のエ」も「ア行のエ」と区別されなくなり、「イェ」になります。また、撥音の「ン」も日本語の音素として定着してくる。</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457200" y="274320"/>
            <a:ext cx="822960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4000" spc="-1" strike="noStrike">
                <a:solidFill>
                  <a:srgbClr val="000000"/>
                </a:solidFill>
                <a:latin typeface="Arial"/>
              </a:rPr>
              <a:t>後期中世日本語（１５世紀、室町時代）</a:t>
            </a:r>
            <a:r>
              <a:rPr b="0" lang="ja-JP" sz="4000" spc="-1" strike="noStrike">
                <a:solidFill>
                  <a:srgbClr val="000000"/>
                </a:solidFill>
                <a:latin typeface="Arial"/>
              </a:rPr>
              <a:t> </a:t>
            </a:r>
            <a:endParaRPr b="0" lang="en-US" sz="4000" spc="-1" strike="noStrike">
              <a:solidFill>
                <a:srgbClr val="000000"/>
              </a:solidFill>
              <a:latin typeface="Arial"/>
            </a:endParaRPr>
          </a:p>
        </p:txBody>
      </p:sp>
      <p:sp>
        <p:nvSpPr>
          <p:cNvPr id="79" name="PlaceHolder 2"/>
          <p:cNvSpPr>
            <a:spLocks noGrp="1"/>
          </p:cNvSpPr>
          <p:nvPr>
            <p:ph/>
          </p:nvPr>
        </p:nvSpPr>
        <p:spPr>
          <a:xfrm>
            <a:off x="250560" y="1557000"/>
            <a:ext cx="8435880" cy="4924440"/>
          </a:xfrm>
          <a:prstGeom prst="rect">
            <a:avLst/>
          </a:prstGeom>
          <a:noFill/>
          <a:ln w="0">
            <a:noFill/>
          </a:ln>
        </p:spPr>
        <p:txBody>
          <a:bodyPr lIns="91440" rIns="91440" tIns="45720" bIns="45720" anchor="t">
            <a:normAutofit fontScale="98427" lnSpcReduction="20000"/>
          </a:bodyPr>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いろわにうぉいぇど　ちりぬるうぉ</a:t>
            </a:r>
            <a:br>
              <a:rPr sz="2800"/>
            </a:br>
            <a:r>
              <a:rPr b="0" lang="ja-JP" sz="2800" spc="-1" strike="noStrike">
                <a:solidFill>
                  <a:srgbClr val="000000"/>
                </a:solidFill>
                <a:latin typeface="Arial"/>
              </a:rPr>
              <a:t>わがよたれそいぇ　つねならん</a:t>
            </a:r>
            <a:br>
              <a:rPr sz="2800"/>
            </a:br>
            <a:r>
              <a:rPr b="0" lang="ja-JP" sz="2800" spc="-1" strike="noStrike">
                <a:solidFill>
                  <a:srgbClr val="000000"/>
                </a:solidFill>
                <a:latin typeface="Arial"/>
              </a:rPr>
              <a:t>ういのうぉくやま　きょーこいぇて</a:t>
            </a:r>
            <a:br>
              <a:rPr sz="2800"/>
            </a:br>
            <a:r>
              <a:rPr b="0" lang="ja-JP" sz="2800" spc="-1" strike="noStrike">
                <a:solidFill>
                  <a:srgbClr val="000000"/>
                </a:solidFill>
                <a:latin typeface="Arial"/>
              </a:rPr>
              <a:t>あさきゆめみじ　いぇーもしぇず </a:t>
            </a:r>
            <a:endParaRPr b="0" lang="en-US" sz="2800" spc="-1" strike="noStrike">
              <a:solidFill>
                <a:srgbClr val="000000"/>
              </a:solidFill>
              <a:latin typeface="Arial"/>
            </a:endParaRPr>
          </a:p>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室町時代、すなわち１５世紀前後になると、タ行が「タ、チ、ツ、テ、ト」と発音されるようになり、ダ行の「ヂ、ヅ」とザ行の「ジ、ズ」の区別が曖昧になってきます。 また、「ケウ」が「キョー」と発音されるようになるなど、日本語に長音が生じ、拗音も定着してくる。 </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457200" y="274320"/>
            <a:ext cx="822960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3600" spc="-1" strike="noStrike">
                <a:solidFill>
                  <a:srgbClr val="000000"/>
                </a:solidFill>
                <a:latin typeface="Arial"/>
              </a:rPr>
              <a:t>近世日本語（１７世紀、江戸時代前期）</a:t>
            </a:r>
            <a:r>
              <a:rPr b="0" lang="ja-JP" sz="4000" spc="-1" strike="noStrike">
                <a:solidFill>
                  <a:srgbClr val="000000"/>
                </a:solidFill>
                <a:latin typeface="Arial"/>
              </a:rPr>
              <a:t> </a:t>
            </a:r>
            <a:endParaRPr b="0" lang="en-US" sz="4000" spc="-1" strike="noStrike">
              <a:solidFill>
                <a:srgbClr val="000000"/>
              </a:solidFill>
              <a:latin typeface="Arial"/>
            </a:endParaRPr>
          </a:p>
        </p:txBody>
      </p:sp>
      <p:sp>
        <p:nvSpPr>
          <p:cNvPr id="81" name="PlaceHolder 2"/>
          <p:cNvSpPr>
            <a:spLocks noGrp="1"/>
          </p:cNvSpPr>
          <p:nvPr>
            <p:ph/>
          </p:nvPr>
        </p:nvSpPr>
        <p:spPr>
          <a:xfrm>
            <a:off x="250920" y="1557360"/>
            <a:ext cx="8686800" cy="4525920"/>
          </a:xfrm>
          <a:prstGeom prst="rect">
            <a:avLst/>
          </a:prstGeom>
          <a:noFill/>
          <a:ln w="0">
            <a:noFill/>
          </a:ln>
        </p:spPr>
        <p:txBody>
          <a:bodyPr lIns="91440" rIns="91440" tIns="45720" bIns="45720" anchor="t">
            <a:normAutofit fontScale="94365"/>
          </a:bodyPr>
          <a:p>
            <a:pPr marL="343080" indent="-343080">
              <a:lnSpc>
                <a:spcPct val="8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いろわにおいぇど　ちりぬるお</a:t>
            </a:r>
            <a:br>
              <a:rPr sz="2800"/>
            </a:br>
            <a:r>
              <a:rPr b="0" lang="ja-JP" sz="2800" spc="-1" strike="noStrike">
                <a:solidFill>
                  <a:srgbClr val="000000"/>
                </a:solidFill>
                <a:latin typeface="Arial"/>
              </a:rPr>
              <a:t>わがよたれそいぇ　つねならん</a:t>
            </a:r>
            <a:br>
              <a:rPr sz="2800"/>
            </a:br>
            <a:r>
              <a:rPr b="0" lang="ja-JP" sz="2800" spc="-1" strike="noStrike">
                <a:solidFill>
                  <a:srgbClr val="000000"/>
                </a:solidFill>
                <a:latin typeface="Arial"/>
              </a:rPr>
              <a:t>ういのおくやま　きょーこいぇて</a:t>
            </a:r>
            <a:br>
              <a:rPr sz="2800"/>
            </a:br>
            <a:r>
              <a:rPr b="0" lang="ja-JP" sz="2800" spc="-1" strike="noStrike">
                <a:solidFill>
                  <a:srgbClr val="000000"/>
                </a:solidFill>
                <a:latin typeface="Arial"/>
              </a:rPr>
              <a:t>あさきゆめみじ　いぇーもせず </a:t>
            </a:r>
            <a:endParaRPr b="0" lang="en-US" sz="2800" spc="-1" strike="noStrike">
              <a:solidFill>
                <a:srgbClr val="000000"/>
              </a:solidFill>
              <a:latin typeface="Arial"/>
            </a:endParaRPr>
          </a:p>
          <a:p>
            <a:pPr marL="343080" indent="0">
              <a:lnSpc>
                <a:spcPct val="8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a:p>
            <a:pPr marL="343080" indent="-343080">
              <a:lnSpc>
                <a:spcPct val="8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１７世紀の江戸時代になると、中世には「シェ」と発音していた「サ行のセ」が、関東方言に由来する「セ」の音で発音されるようになります。 また、「ウォ」と発音していた「ア行のオ」も、「オ」の発音になる。</a:t>
            </a:r>
            <a:endParaRPr b="0" lang="en-US" sz="2800" spc="-1" strike="noStrike">
              <a:solidFill>
                <a:srgbClr val="000000"/>
              </a:solidFill>
              <a:latin typeface="Arial"/>
            </a:endParaRPr>
          </a:p>
          <a:p>
            <a:pPr marL="343080" indent="-343080">
              <a:lnSpc>
                <a:spcPct val="8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いろは歌には存在しませんが、主に語頭に残っていた「ハ行」の音が、それまでの「ファ行」から現在の「ハ行」になったのもこの頃だ。</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4320"/>
            <a:ext cx="822960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3600" spc="-1" strike="noStrike">
                <a:solidFill>
                  <a:srgbClr val="000000"/>
                </a:solidFill>
                <a:latin typeface="Arial"/>
              </a:rPr>
              <a:t>現代日本語（１９世紀</a:t>
            </a:r>
            <a:r>
              <a:rPr b="1" lang="en-US" sz="3600" spc="-1" strike="noStrike">
                <a:solidFill>
                  <a:srgbClr val="000000"/>
                </a:solidFill>
                <a:latin typeface="Arial"/>
              </a:rPr>
              <a:t>〜</a:t>
            </a:r>
            <a:r>
              <a:rPr b="1" lang="ja-JP" sz="3600" spc="-1" strike="noStrike">
                <a:solidFill>
                  <a:srgbClr val="000000"/>
                </a:solidFill>
                <a:latin typeface="Arial"/>
              </a:rPr>
              <a:t>２１世紀、江戸時代後期</a:t>
            </a:r>
            <a:r>
              <a:rPr b="1" lang="en-US" sz="3600" spc="-1" strike="noStrike">
                <a:solidFill>
                  <a:srgbClr val="000000"/>
                </a:solidFill>
                <a:latin typeface="Arial"/>
              </a:rPr>
              <a:t>〜</a:t>
            </a:r>
            <a:r>
              <a:rPr b="1" lang="ja-JP" sz="3600" spc="-1" strike="noStrike">
                <a:solidFill>
                  <a:srgbClr val="000000"/>
                </a:solidFill>
                <a:latin typeface="Arial"/>
              </a:rPr>
              <a:t>現在）</a:t>
            </a:r>
            <a:r>
              <a:rPr b="0" lang="ja-JP" sz="4000" spc="-1" strike="noStrike">
                <a:solidFill>
                  <a:srgbClr val="000000"/>
                </a:solidFill>
                <a:latin typeface="Arial"/>
              </a:rPr>
              <a:t> </a:t>
            </a:r>
            <a:endParaRPr b="0" lang="en-US" sz="4000" spc="-1" strike="noStrike">
              <a:solidFill>
                <a:srgbClr val="000000"/>
              </a:solidFill>
              <a:latin typeface="Arial"/>
            </a:endParaRPr>
          </a:p>
        </p:txBody>
      </p:sp>
      <p:sp>
        <p:nvSpPr>
          <p:cNvPr id="83" name="PlaceHolder 2"/>
          <p:cNvSpPr>
            <a:spLocks noGrp="1"/>
          </p:cNvSpPr>
          <p:nvPr>
            <p:ph/>
          </p:nvPr>
        </p:nvSpPr>
        <p:spPr>
          <a:xfrm>
            <a:off x="457200" y="1600200"/>
            <a:ext cx="8229600" cy="4525920"/>
          </a:xfrm>
          <a:prstGeom prst="rect">
            <a:avLst/>
          </a:prstGeom>
          <a:noFill/>
          <a:ln w="0">
            <a:noFill/>
          </a:ln>
        </p:spPr>
        <p:txBody>
          <a:bodyPr lIns="91440" rIns="91440" tIns="45720" bIns="45720" anchor="t">
            <a:normAutofit fontScale="96865"/>
          </a:bodyPr>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いろわにおえど　ちりぬるお</a:t>
            </a:r>
            <a:br>
              <a:rPr sz="2800"/>
            </a:br>
            <a:r>
              <a:rPr b="0" lang="ja-JP" sz="2800" spc="-1" strike="noStrike">
                <a:solidFill>
                  <a:srgbClr val="000000"/>
                </a:solidFill>
                <a:latin typeface="Arial"/>
              </a:rPr>
              <a:t>わがよたれそえ　つねならん</a:t>
            </a:r>
            <a:br>
              <a:rPr sz="2800"/>
            </a:br>
            <a:r>
              <a:rPr b="0" lang="ja-JP" sz="2800" spc="-1" strike="noStrike">
                <a:solidFill>
                  <a:srgbClr val="000000"/>
                </a:solidFill>
                <a:latin typeface="Arial"/>
              </a:rPr>
              <a:t>ういのおくやま　きょーこえて</a:t>
            </a:r>
            <a:br>
              <a:rPr sz="2800"/>
            </a:br>
            <a:r>
              <a:rPr b="0" lang="ja-JP" sz="2800" spc="-1" strike="noStrike">
                <a:solidFill>
                  <a:srgbClr val="000000"/>
                </a:solidFill>
                <a:latin typeface="Arial"/>
              </a:rPr>
              <a:t>あさきゆめみじ　えーもせず </a:t>
            </a:r>
            <a:endParaRPr b="0" lang="en-US" sz="2800" spc="-1" strike="noStrike">
              <a:solidFill>
                <a:srgbClr val="000000"/>
              </a:solidFill>
              <a:latin typeface="Arial"/>
            </a:endParaRPr>
          </a:p>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pc="-1" strike="noStrike">
              <a:solidFill>
                <a:srgbClr val="000000"/>
              </a:solidFill>
              <a:latin typeface="Arial"/>
            </a:endParaRPr>
          </a:p>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１８世紀になると、それまで「イェ」と発音していた「ア行のエ」が、「エ」と発音されるようになった。</a:t>
            </a:r>
            <a:endParaRPr b="0" lang="en-US" sz="2800" spc="-1" strike="noStrike">
              <a:solidFill>
                <a:srgbClr val="000000"/>
              </a:solidFill>
              <a:latin typeface="Arial"/>
            </a:endParaRPr>
          </a:p>
          <a:p>
            <a:pPr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2800" spc="-1" strike="noStrike">
                <a:solidFill>
                  <a:srgbClr val="000000"/>
                </a:solidFill>
                <a:latin typeface="Arial"/>
              </a:rPr>
              <a:t>こうして、現代日本語の発音体系が出来上がった。</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4400" spc="-1" strike="noStrike">
              <a:solidFill>
                <a:srgbClr val="000000"/>
              </a:solidFill>
              <a:latin typeface="Arial"/>
            </a:endParaRPr>
          </a:p>
        </p:txBody>
      </p:sp>
      <p:pic>
        <p:nvPicPr>
          <p:cNvPr id="85" name="Picture 2" descr="C:\Users\okach\Desktop\IMG_7053.PNG"/>
          <p:cNvPicPr/>
          <p:nvPr/>
        </p:nvPicPr>
        <p:blipFill>
          <a:blip r:embed="rId1"/>
          <a:stretch/>
        </p:blipFill>
        <p:spPr>
          <a:xfrm>
            <a:off x="6480" y="549360"/>
            <a:ext cx="9144000" cy="514008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1208</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2014-09-12T04:02:31Z</dcterms:created>
  <dc:creator>chengang</dc:creator>
  <dc:description/>
  <dc:language>en-US</dc:language>
  <cp:lastModifiedBy>oka.chen</cp:lastModifiedBy>
  <dcterms:modified xsi:type="dcterms:W3CDTF">2022-09-14T13:40:48Z</dcterms:modified>
  <cp:revision>15</cp:revision>
  <dc:subject/>
  <dc:title>第二編　音声・音韻</dc:title>
</cp:coreProperties>
</file>